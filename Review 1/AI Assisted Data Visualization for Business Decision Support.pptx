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2FB1-306A-6063-10A7-763BDE419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C8E59-BDAF-E188-4CE0-F2401E00C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1BFBF-FB54-2E6E-39D9-D8FF5996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87A42-EA9A-73C8-AFDD-EC6B7A29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7E2DE-0F34-FC34-5C44-2953E5D5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66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9D25-21E4-6B3D-98A8-9FF62915F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1134D-A250-61FF-7D00-0A20F7E8C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001DA-E41B-0943-FB60-BF0B0F50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9EAB0-F3D7-95A2-3EAB-494CBA9C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FB378-33B3-544A-84B0-0E81DB9F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66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2BF1-A562-DB2A-181C-EAF08037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C5306-0ABB-CB78-C660-FB05F113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CBB6-1E74-FB9D-2109-9748CE4C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4940D-D390-CE44-48F5-51985E50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ECBF3-1450-91A6-49C9-B4B2784A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59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838C-582A-7172-0B8D-CBBDD5FF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68CB-2E07-378F-80DD-5A93E986B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F046B-691C-BF25-558F-6B10DEA71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E1B50-5A22-A503-55CB-99E19E2B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ED365-AC84-7DFA-CA26-DB7B17D6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5F987-B0FD-791F-EB0C-14307BFC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57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80BC-7DA3-F176-119F-C7E49CE70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EB928-F362-5CCF-AC3C-13BD3FF70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678CA-5B40-26C5-F350-74B6252F6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A0BC0-15DD-4ECF-1D2E-ADAC7FCE9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D3D4D9-B1B3-3753-3D3D-AB6461E59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EDC81-0B5A-FB03-CE60-1D5CF51D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88DC4-343C-45E2-02AA-4F771E2B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DA283-0D36-2570-01E7-45603B27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58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A3C6E-AF96-635E-1702-A36DD2E40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34138A-56E9-1AE7-01FF-5C57073D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B9E06-3C42-86A6-4E19-32D33898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BBF04-574A-E5A8-D00C-53C2D9E0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857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F476F-22CA-DBA7-EE28-1540758A6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39D9C7-50D1-6F6D-70D4-F1EE9BA7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94F9E-EA60-A816-5D9E-AAD2B760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394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FE1E-8249-5F1D-5CC0-EC286228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B7A0D-BAFC-1DCE-EBF8-8E9D543CD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B23F-874D-EB11-FFBF-EC4AC1A7F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6B401-E6E7-F453-22B1-2E513648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230F0-B76D-F01B-89F2-A6FDF5FA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377E4-62F8-EB60-4088-C11BBAD7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65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E033-CD8D-A9F8-5C08-2E9BF3C7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1EECD-72AA-ED59-F113-76DE83A30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E0BFC-00BE-96E9-1309-9478F93F3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A7B11-ECB9-BE8D-A5EF-84836FF7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7DCEA-4602-B225-B5DE-16B725D4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1E48A-A1E6-962A-BE5C-B0F82FEB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21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5B85-0BF1-9054-99C4-068289A3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311AD-5250-92C1-2954-5C67F4BFC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BCD09-1C70-3121-3FA6-59A7DAB6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8D0D7-8FC0-8B88-A266-1A3D0D95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4D6F6-0158-5D0B-268B-A24CF0C4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237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7FFB7-B76F-84D7-951C-7B8C62A41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FFFB9-9152-536D-33B3-23F7CC206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DBFF6-FC77-7E45-779F-32BC8050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2A4F2-45D9-34AF-C203-9B81E37C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5DE12-DDB5-0EAF-0D2E-C5B7C30D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67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E2C5D8-3FAC-0D39-5F16-818F04AFD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F54FA-EAD4-B414-411A-1C57D8CC8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19A9B-C44F-C8E2-178E-5405EE0CC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1122B-5D60-45F2-B385-BB21F1AF7CD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56024-CEE8-0D54-EAAB-386C710DA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6BCC4-3FB0-DA3F-CA13-7C455CFB4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21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0BF7-C221-F6F8-8F62-97B9A30D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6252"/>
          </a:xfrm>
        </p:spPr>
        <p:txBody>
          <a:bodyPr>
            <a:normAutofit fontScale="90000"/>
          </a:bodyPr>
          <a:lstStyle/>
          <a:p>
            <a:r>
              <a:rPr lang="en-IN" sz="2800" u="sng" dirty="0">
                <a:latin typeface="Georgia" panose="02040502050405020303" pitchFamily="18" charset="0"/>
              </a:rPr>
              <a:t>AI Assisted Data Visualization for Business Decision Support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7A480-E3A5-1FFC-6926-65517F789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527"/>
            <a:ext cx="10515600" cy="4793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Analytics and Decision Support Systems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2026–2027</a:t>
            </a:r>
          </a:p>
          <a:p>
            <a:pPr marL="0" indent="0"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Harshavardhan Reddy – 2420030456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Sai Nikhil Reddy  – 2420030085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Sai Satwik  – 2420030163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Satya Dev  – 2420090120 </a:t>
            </a:r>
          </a:p>
          <a:p>
            <a:pPr marL="0" indent="0">
              <a:buNone/>
            </a:pPr>
            <a:b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 Dr. Swapnika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84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6D18-BABB-D4E0-4779-D305C36B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Georgia" panose="02040502050405020303" pitchFamily="18" charset="0"/>
              </a:rPr>
              <a:t>PROBLEM DEFINITION</a:t>
            </a:r>
            <a:endParaRPr lang="en-IN" sz="25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09749-FA00-36DE-06E5-53BCAD2A3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650"/>
            <a:ext cx="10515600" cy="4650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Problem Statement</a:t>
            </a:r>
          </a:p>
          <a:p>
            <a:r>
              <a:rPr lang="en-IN" sz="1200" dirty="0"/>
              <a:t>Modern organizations generate large volumes of business and transactional data. However, converting this raw data into meaningful, explainable and actionable information remains challenging.</a:t>
            </a:r>
          </a:p>
          <a:p>
            <a:r>
              <a:rPr lang="en-IN" sz="1200" dirty="0"/>
              <a:t>Traditional analysis often requires:</a:t>
            </a:r>
          </a:p>
          <a:p>
            <a:pPr lvl="0"/>
            <a:r>
              <a:rPr lang="en-IN" sz="1200" dirty="0"/>
              <a:t>Manual data preparation and exploration </a:t>
            </a:r>
          </a:p>
          <a:p>
            <a:pPr lvl="0"/>
            <a:r>
              <a:rPr lang="en-IN" sz="1200" dirty="0"/>
              <a:t>Separate tools for analytics and visualization </a:t>
            </a:r>
          </a:p>
          <a:p>
            <a:pPr lvl="0"/>
            <a:r>
              <a:rPr lang="en-IN" sz="1200" dirty="0"/>
              <a:t>Significant effort to compare predictive models </a:t>
            </a:r>
          </a:p>
          <a:p>
            <a:pPr lvl="0"/>
            <a:r>
              <a:rPr lang="en-IN" sz="1200" dirty="0"/>
              <a:t>Difficulty interpreting machine-learning predictions </a:t>
            </a:r>
          </a:p>
          <a:p>
            <a:pPr lvl="0"/>
            <a:r>
              <a:rPr lang="en-IN" sz="1200" dirty="0"/>
              <a:t>Limited integration between analytical results and business decision-making </a:t>
            </a:r>
          </a:p>
          <a:p>
            <a:pPr marL="0" indent="0">
              <a:buNone/>
            </a:pPr>
            <a:br>
              <a:rPr lang="en-IN" sz="1200" b="1" dirty="0"/>
            </a:br>
            <a:r>
              <a:rPr lang="en-IN" sz="1400" b="1" dirty="0"/>
              <a:t>Proposed Solution</a:t>
            </a:r>
          </a:p>
          <a:p>
            <a:r>
              <a:rPr lang="en-IN" sz="1200" dirty="0"/>
              <a:t>Develop an </a:t>
            </a:r>
            <a:r>
              <a:rPr lang="en-IN" sz="1200" b="1" dirty="0"/>
              <a:t>AI-assisted business analytics and visualization platform</a:t>
            </a:r>
            <a:r>
              <a:rPr lang="en-IN" sz="1200" dirty="0"/>
              <a:t> that integrates:</a:t>
            </a:r>
          </a:p>
          <a:p>
            <a:r>
              <a:rPr lang="en-IN" sz="1200" b="1" dirty="0"/>
              <a:t>Data Analytics → Machine Learning → Explainable AI → Interactive Visualization → Decision Support</a:t>
            </a:r>
            <a:endParaRPr lang="en-IN" sz="1200" dirty="0"/>
          </a:p>
          <a:p>
            <a:r>
              <a:rPr lang="en-IN" sz="1200" dirty="0"/>
              <a:t>The system is intended to transform complex business data into </a:t>
            </a:r>
            <a:r>
              <a:rPr lang="en-IN" sz="1200" b="1" dirty="0"/>
              <a:t>accurate, interpretable and actionable insights</a:t>
            </a:r>
            <a:r>
              <a:rPr lang="en-IN" sz="1200" dirty="0"/>
              <a:t>.</a:t>
            </a:r>
          </a:p>
          <a:p>
            <a:r>
              <a:rPr lang="en-IN" sz="1200" dirty="0"/>
              <a:t>The project roadmap defines the same overall objective and positions the system around business performance, customer </a:t>
            </a:r>
            <a:r>
              <a:rPr lang="en-IN" sz="1200" dirty="0" err="1"/>
              <a:t>behavior</a:t>
            </a:r>
            <a:r>
              <a:rPr lang="en-IN" sz="1200" dirty="0"/>
              <a:t>, profitability and regional trends. 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18279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A8C13-4511-FD3F-3322-33A95E05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Georgia" panose="02040502050405020303" pitchFamily="18" charset="0"/>
              </a:rPr>
              <a:t>MOTIVATION</a:t>
            </a:r>
            <a:endParaRPr lang="en-IN" sz="25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9E852-1A6C-4478-8089-A4A1E1C9A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Why This Project?</a:t>
            </a:r>
          </a:p>
          <a:p>
            <a:pPr lvl="0"/>
            <a:r>
              <a:rPr lang="en-IN" sz="1200" dirty="0"/>
              <a:t>Business data is continuously increasing in volume and complexity. </a:t>
            </a:r>
          </a:p>
          <a:p>
            <a:pPr lvl="0"/>
            <a:r>
              <a:rPr lang="en-IN" sz="1200" dirty="0"/>
              <a:t>Decision-makers need insights rather than raw datasets. </a:t>
            </a:r>
          </a:p>
          <a:p>
            <a:pPr lvl="0"/>
            <a:r>
              <a:rPr lang="en-IN" sz="1200" dirty="0"/>
              <a:t>Machine-learning predictions alone may not explain </a:t>
            </a:r>
            <a:r>
              <a:rPr lang="en-IN" sz="1200" b="1" dirty="0"/>
              <a:t>why</a:t>
            </a:r>
            <a:r>
              <a:rPr lang="en-IN" sz="1200" dirty="0"/>
              <a:t> a prediction was produced. </a:t>
            </a:r>
          </a:p>
          <a:p>
            <a:pPr lvl="0"/>
            <a:r>
              <a:rPr lang="en-IN" sz="1200" dirty="0"/>
              <a:t>Interactive visualization can make analytical results easier to understand. </a:t>
            </a:r>
          </a:p>
          <a:p>
            <a:pPr lvl="0"/>
            <a:r>
              <a:rPr lang="en-IN" sz="1200" dirty="0"/>
              <a:t>Explainable AI can improve transparency and trust in predictive analytics. </a:t>
            </a:r>
          </a:p>
          <a:p>
            <a:pPr lvl="0"/>
            <a:r>
              <a:rPr lang="en-IN" sz="1200" dirty="0"/>
              <a:t>A unified platform can connect </a:t>
            </a:r>
            <a:r>
              <a:rPr lang="en-IN" sz="1200" b="1" dirty="0"/>
              <a:t>data analysis with business decision support</a:t>
            </a:r>
            <a:r>
              <a:rPr lang="en-IN" sz="1200" dirty="0"/>
              <a:t>. </a:t>
            </a:r>
          </a:p>
          <a:p>
            <a:pPr marL="0" indent="0">
              <a:buNone/>
            </a:pPr>
            <a:r>
              <a:rPr lang="en-IN" sz="1400" b="1" dirty="0"/>
              <a:t>Core Motivation</a:t>
            </a:r>
          </a:p>
          <a:p>
            <a:r>
              <a:rPr lang="en-IN" sz="1200" b="1" dirty="0"/>
              <a:t>Convert raw business data into explainable visual intelligence for better decision-making.</a:t>
            </a:r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2073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61D0-FCFE-CF29-C7BE-34215C9F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Georgia" panose="02040502050405020303" pitchFamily="18" charset="0"/>
              </a:rPr>
              <a:t>OBJECTIVES</a:t>
            </a:r>
            <a:endParaRPr lang="en-IN" sz="25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BCFE1-99B3-06A2-0348-0CFFA6CFC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Project Objectives</a:t>
            </a:r>
          </a:p>
          <a:p>
            <a:pPr lvl="0"/>
            <a:r>
              <a:rPr lang="en-IN" sz="1200" dirty="0"/>
              <a:t>Develop a systematic pipeline for business data collection and preprocessing. </a:t>
            </a:r>
          </a:p>
          <a:p>
            <a:pPr lvl="0"/>
            <a:r>
              <a:rPr lang="en-IN" sz="1200" dirty="0"/>
              <a:t>Perform comprehensive </a:t>
            </a:r>
            <a:r>
              <a:rPr lang="en-IN" sz="1200" b="1" dirty="0"/>
              <a:t>Exploratory Data Analysis (EDA)</a:t>
            </a:r>
            <a:r>
              <a:rPr lang="en-IN" sz="1200" dirty="0"/>
              <a:t>. </a:t>
            </a:r>
          </a:p>
          <a:p>
            <a:pPr lvl="0"/>
            <a:r>
              <a:rPr lang="en-IN" sz="1200" dirty="0"/>
              <a:t>Identify important business patterns related to sales, customers, products, profitability and regions. </a:t>
            </a:r>
          </a:p>
          <a:p>
            <a:pPr lvl="0"/>
            <a:r>
              <a:rPr lang="en-IN" sz="1200" dirty="0"/>
              <a:t>Perform feature engineering and feature selection. </a:t>
            </a:r>
          </a:p>
          <a:p>
            <a:pPr lvl="0"/>
            <a:r>
              <a:rPr lang="en-IN" sz="1200" dirty="0"/>
              <a:t>Develop and compare multiple machine-learning models. </a:t>
            </a:r>
          </a:p>
          <a:p>
            <a:pPr lvl="0"/>
            <a:r>
              <a:rPr lang="en-IN" sz="1200" dirty="0"/>
              <a:t>Apply </a:t>
            </a:r>
            <a:r>
              <a:rPr lang="en-IN" sz="1200" b="1" dirty="0"/>
              <a:t>SHAP and LIME</a:t>
            </a:r>
            <a:r>
              <a:rPr lang="en-IN" sz="1200" dirty="0"/>
              <a:t> for explainable predictions. </a:t>
            </a:r>
          </a:p>
          <a:p>
            <a:pPr lvl="0"/>
            <a:r>
              <a:rPr lang="en-IN" sz="1200" dirty="0"/>
              <a:t>Develop interactive business visualizations. </a:t>
            </a:r>
          </a:p>
          <a:p>
            <a:pPr lvl="0"/>
            <a:r>
              <a:rPr lang="en-IN" sz="1200" dirty="0"/>
              <a:t>Integrate analytical outputs into a </a:t>
            </a:r>
            <a:r>
              <a:rPr lang="en-IN" sz="1200" b="1" dirty="0" err="1"/>
              <a:t>Streamlit</a:t>
            </a:r>
            <a:r>
              <a:rPr lang="en-IN" sz="1200" b="1" dirty="0"/>
              <a:t> dashboard</a:t>
            </a:r>
            <a:r>
              <a:rPr lang="en-IN" sz="1200" dirty="0"/>
              <a:t>. </a:t>
            </a:r>
          </a:p>
          <a:p>
            <a:pPr lvl="0"/>
            <a:r>
              <a:rPr lang="en-IN" sz="1200" dirty="0"/>
              <a:t>Generate meaningful business insights and decision-support information. </a:t>
            </a:r>
          </a:p>
          <a:p>
            <a:r>
              <a:rPr lang="en-IN" sz="1200" dirty="0"/>
              <a:t>These objectives are directly aligned with the technical pipeline defined in the Project Approach Roadmap.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020760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B7CA-C9DB-5388-9309-CD15E653B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Georgia" panose="02040502050405020303" pitchFamily="18" charset="0"/>
              </a:rPr>
              <a:t>DATASETS</a:t>
            </a:r>
            <a:endParaRPr lang="en-IN" sz="25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41DC-3C64-F833-9E14-B1D9E7B57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673"/>
            <a:ext cx="2859157" cy="4817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1" dirty="0"/>
              <a:t>Datasets Used  			</a:t>
            </a:r>
          </a:p>
          <a:p>
            <a:r>
              <a:rPr lang="en-IN" sz="1200" b="1" dirty="0"/>
              <a:t>1. Superstore Sales Dataset</a:t>
            </a:r>
          </a:p>
          <a:p>
            <a:r>
              <a:rPr lang="en-IN" sz="1200" dirty="0"/>
              <a:t>Retail transactional dataset containing:</a:t>
            </a:r>
          </a:p>
          <a:p>
            <a:pPr lvl="0"/>
            <a:r>
              <a:rPr lang="en-IN" sz="1200" dirty="0"/>
              <a:t>Customer information </a:t>
            </a:r>
          </a:p>
          <a:p>
            <a:pPr lvl="0"/>
            <a:r>
              <a:rPr lang="en-IN" sz="1200" dirty="0"/>
              <a:t>Product categories </a:t>
            </a:r>
          </a:p>
          <a:p>
            <a:pPr lvl="0"/>
            <a:r>
              <a:rPr lang="en-IN" sz="1200" dirty="0"/>
              <a:t>Sales </a:t>
            </a:r>
          </a:p>
          <a:p>
            <a:pPr lvl="0"/>
            <a:r>
              <a:rPr lang="en-IN" sz="1200" dirty="0"/>
              <a:t>Profit </a:t>
            </a:r>
          </a:p>
          <a:p>
            <a:pPr lvl="0"/>
            <a:r>
              <a:rPr lang="en-IN" sz="1200" dirty="0"/>
              <a:t>Discounts </a:t>
            </a:r>
          </a:p>
          <a:p>
            <a:pPr lvl="0"/>
            <a:r>
              <a:rPr lang="en-IN" sz="1200" dirty="0"/>
              <a:t>Quantity </a:t>
            </a:r>
          </a:p>
          <a:p>
            <a:pPr lvl="0"/>
            <a:r>
              <a:rPr lang="en-IN" sz="1200" dirty="0"/>
              <a:t>Shipping information </a:t>
            </a:r>
          </a:p>
          <a:p>
            <a:pPr lvl="0"/>
            <a:r>
              <a:rPr lang="en-IN" sz="1200" dirty="0"/>
              <a:t>Regional information </a:t>
            </a:r>
          </a:p>
          <a:p>
            <a:pPr marL="0" indent="0">
              <a:buNone/>
            </a:pPr>
            <a:endParaRPr lang="en-IN" sz="12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15B9F-2384-5F0B-7494-CC380FAB8680}"/>
              </a:ext>
            </a:extLst>
          </p:cNvPr>
          <p:cNvSpPr txBox="1"/>
          <p:nvPr/>
        </p:nvSpPr>
        <p:spPr>
          <a:xfrm>
            <a:off x="4238046" y="1690688"/>
            <a:ext cx="209119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2. Global Superstore Dataset</a:t>
            </a:r>
          </a:p>
          <a:p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Multinational retail dataset containing: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Customers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Products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Sales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Profit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Shipping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Markets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Regional information</a:t>
            </a:r>
          </a:p>
          <a:p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F4E66-B634-21BC-D237-EC51A1081D70}"/>
              </a:ext>
            </a:extLst>
          </p:cNvPr>
          <p:cNvSpPr txBox="1"/>
          <p:nvPr/>
        </p:nvSpPr>
        <p:spPr>
          <a:xfrm>
            <a:off x="7744239" y="1682737"/>
            <a:ext cx="219456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3. Brazilian E-Commerce Public Dataset — </a:t>
            </a:r>
            <a:r>
              <a:rPr lang="en-IN" sz="1200" b="1" dirty="0" err="1"/>
              <a:t>Olist</a:t>
            </a:r>
            <a:endParaRPr lang="en-IN" sz="1200" b="1" dirty="0"/>
          </a:p>
          <a:p>
            <a:br>
              <a:rPr lang="en-IN" sz="1200" dirty="0"/>
            </a:br>
            <a:r>
              <a:rPr lang="en-IN" sz="1200" dirty="0"/>
              <a:t>Real-world e-commerce dataset containing: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br>
              <a:rPr lang="en-IN" sz="1200" dirty="0"/>
            </a:br>
            <a:r>
              <a:rPr lang="en-IN" sz="1200" dirty="0"/>
              <a:t>Orders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Customers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Products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Sellers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Payments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Deliveries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Customer reviews</a:t>
            </a:r>
          </a:p>
        </p:txBody>
      </p:sp>
    </p:spTree>
    <p:extLst>
      <p:ext uri="{BB962C8B-B14F-4D97-AF65-F5344CB8AC3E}">
        <p14:creationId xmlns:p14="http://schemas.microsoft.com/office/powerpoint/2010/main" val="168574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CE30-F762-68A6-6682-1E60273B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Georgia" panose="02040502050405020303" pitchFamily="18" charset="0"/>
              </a:rPr>
              <a:t>LITERATURE SURVEY</a:t>
            </a:r>
            <a:endParaRPr lang="en-IN" sz="25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CD5F-134B-F071-6BFA-4CFE62B79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868"/>
            <a:ext cx="10515600" cy="48490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Research Areas Studied</a:t>
            </a:r>
          </a:p>
          <a:p>
            <a:r>
              <a:rPr lang="en-IN" sz="1200" dirty="0"/>
              <a:t>The literature survey focuses on:</a:t>
            </a:r>
          </a:p>
          <a:p>
            <a:pPr lvl="0"/>
            <a:r>
              <a:rPr lang="en-IN" sz="1200" dirty="0"/>
              <a:t>Explainable Artificial Intelligence </a:t>
            </a:r>
          </a:p>
          <a:p>
            <a:pPr lvl="0"/>
            <a:r>
              <a:rPr lang="en-IN" sz="1200" dirty="0"/>
              <a:t>Business Analytics </a:t>
            </a:r>
          </a:p>
          <a:p>
            <a:pPr lvl="0"/>
            <a:r>
              <a:rPr lang="en-IN" sz="1200" dirty="0"/>
              <a:t>Decision Support Systems </a:t>
            </a:r>
          </a:p>
          <a:p>
            <a:pPr lvl="0"/>
            <a:r>
              <a:rPr lang="en-IN" sz="1200" dirty="0"/>
              <a:t>Machine Learning for Business </a:t>
            </a:r>
          </a:p>
          <a:p>
            <a:pPr lvl="0"/>
            <a:r>
              <a:rPr lang="en-IN" sz="1200" dirty="0"/>
              <a:t>Data Visualization </a:t>
            </a:r>
          </a:p>
          <a:p>
            <a:pPr lvl="0"/>
            <a:r>
              <a:rPr lang="en-IN" sz="1200" dirty="0"/>
              <a:t>Human-understandable AI explanations </a:t>
            </a:r>
          </a:p>
          <a:p>
            <a:pPr lvl="0"/>
            <a:r>
              <a:rPr lang="en-IN" sz="1200" dirty="0"/>
              <a:t>Uncertainty-aware decision-making </a:t>
            </a:r>
          </a:p>
          <a:p>
            <a:pPr marL="0" indent="0">
              <a:buNone/>
            </a:pPr>
            <a:r>
              <a:rPr lang="en-IN" sz="1400" b="1" dirty="0"/>
              <a:t>Key Observation</a:t>
            </a:r>
          </a:p>
          <a:p>
            <a:r>
              <a:rPr lang="en-IN" sz="1200" dirty="0"/>
              <a:t>Existing research demonstrates strong progress in </a:t>
            </a:r>
            <a:r>
              <a:rPr lang="en-IN" sz="1200" b="1" dirty="0"/>
              <a:t>machine learning, explainability and visualization</a:t>
            </a:r>
            <a:r>
              <a:rPr lang="en-IN" sz="1200" dirty="0"/>
              <a:t>, but these areas are frequently addressed independently.</a:t>
            </a:r>
          </a:p>
          <a:p>
            <a:pPr marL="0" indent="0">
              <a:buNone/>
            </a:pPr>
            <a:r>
              <a:rPr lang="en-IN" sz="1400" b="1" dirty="0"/>
              <a:t>Research Direction</a:t>
            </a:r>
          </a:p>
          <a:p>
            <a:r>
              <a:rPr lang="en-IN" sz="1200" dirty="0"/>
              <a:t>Our project focuses on integrating:</a:t>
            </a:r>
          </a:p>
          <a:p>
            <a:pPr marL="0" indent="0">
              <a:buNone/>
            </a:pPr>
            <a:r>
              <a:rPr lang="en-IN" sz="1400" b="1" dirty="0"/>
              <a:t>Business Analytics + ML + XAI + Visualization + Decision Support</a:t>
            </a:r>
            <a:endParaRPr lang="en-IN" sz="1400" dirty="0"/>
          </a:p>
          <a:p>
            <a:r>
              <a:rPr lang="en-IN" sz="1200" dirty="0"/>
              <a:t>into a unified workflow.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92176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6C2C-B21B-A230-40DB-FA7334CE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500" dirty="0">
                <a:latin typeface="Georgia" panose="02040502050405020303" pitchFamily="18" charset="0"/>
              </a:rPr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C14B3-11F9-F1A1-AD6E-9BDA1723A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Identified Research Gaps</a:t>
            </a:r>
          </a:p>
          <a:p>
            <a:pPr marL="0" indent="0">
              <a:buNone/>
            </a:pPr>
            <a:br>
              <a:rPr lang="en-IN" sz="1200" b="1" dirty="0"/>
            </a:br>
            <a:r>
              <a:rPr lang="en-IN" sz="1200" b="1" dirty="0"/>
              <a:t>Gap 1 — Fragmented Analytics</a:t>
            </a:r>
          </a:p>
          <a:p>
            <a:r>
              <a:rPr lang="en-IN" sz="1200" dirty="0"/>
              <a:t>Many existing solutions focus on individual analytical components rather than a complete end-to-end workflow.</a:t>
            </a:r>
          </a:p>
          <a:p>
            <a:pPr marL="0" indent="0">
              <a:buNone/>
            </a:pPr>
            <a:r>
              <a:rPr lang="en-IN" sz="1200" b="1" dirty="0"/>
              <a:t>Gap 2 — Explainability</a:t>
            </a:r>
          </a:p>
          <a:p>
            <a:r>
              <a:rPr lang="en-IN" sz="1200" dirty="0"/>
              <a:t>Predictive models can provide accurate results but may not clearly communicate the reasons behind predictions.</a:t>
            </a:r>
          </a:p>
          <a:p>
            <a:pPr marL="0" indent="0">
              <a:buNone/>
            </a:pPr>
            <a:r>
              <a:rPr lang="en-IN" sz="1200" b="1" dirty="0"/>
              <a:t>Gap 3 — Business Interpretation</a:t>
            </a:r>
          </a:p>
          <a:p>
            <a:r>
              <a:rPr lang="en-IN" sz="1200" dirty="0"/>
              <a:t>Analytical outputs often require additional interpretation before they become useful for business decision-making.</a:t>
            </a:r>
          </a:p>
          <a:p>
            <a:pPr marL="0" indent="0">
              <a:buNone/>
            </a:pPr>
            <a:r>
              <a:rPr lang="en-IN" sz="1200" b="1" dirty="0"/>
              <a:t>Gap 4 — Visualization Integration</a:t>
            </a:r>
          </a:p>
          <a:p>
            <a:r>
              <a:rPr lang="en-IN" sz="1200" dirty="0"/>
              <a:t>Visualization and machine-learning outputs are not always integrated into one decision-support environment.</a:t>
            </a:r>
          </a:p>
          <a:p>
            <a:pPr marL="0" indent="0">
              <a:buNone/>
            </a:pPr>
            <a:r>
              <a:rPr lang="en-IN" sz="1200" b="1" dirty="0"/>
              <a:t>Gap 5 — Unified Workflow</a:t>
            </a:r>
          </a:p>
          <a:p>
            <a:r>
              <a:rPr lang="en-IN" sz="1200" dirty="0"/>
              <a:t>There is scope for combining:</a:t>
            </a:r>
          </a:p>
          <a:p>
            <a:pPr marL="0" indent="0">
              <a:buNone/>
            </a:pPr>
            <a:r>
              <a:rPr lang="en-IN" sz="1200" b="1" dirty="0"/>
              <a:t>EDA → ML → XAI → Visualization → Business Insights</a:t>
            </a:r>
            <a:endParaRPr lang="en-IN" sz="1200" dirty="0"/>
          </a:p>
          <a:p>
            <a:r>
              <a:rPr lang="en-IN" sz="1200" dirty="0"/>
              <a:t>within a single platform.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31434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45AA-510A-A3D5-4665-5AD3BD084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785" y="34922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Georgia" panose="02040502050405020303" pitchFamily="18" charset="0"/>
              </a:rPr>
              <a:t>NOVELTY &amp; INNOVATION</a:t>
            </a:r>
            <a:endParaRPr lang="en-IN" sz="25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83D28-2B28-8554-63F0-9D0BBC90A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332"/>
            <a:ext cx="10515600" cy="4761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Proposed Innovation</a:t>
            </a:r>
          </a:p>
          <a:p>
            <a:r>
              <a:rPr lang="en-IN" sz="1200" dirty="0"/>
              <a:t>The project combines multiple analytical capabilities into a unified business decision-support platform.</a:t>
            </a:r>
          </a:p>
          <a:p>
            <a:pPr marL="0" indent="0">
              <a:buNone/>
            </a:pPr>
            <a:r>
              <a:rPr lang="en-IN" sz="1400" b="1" dirty="0"/>
              <a:t>Key Innovative Aspects</a:t>
            </a:r>
          </a:p>
          <a:p>
            <a:pPr lvl="0"/>
            <a:r>
              <a:rPr lang="en-IN" sz="1200" dirty="0"/>
              <a:t>End-to-end business analytics pipeline </a:t>
            </a:r>
          </a:p>
          <a:p>
            <a:pPr lvl="0"/>
            <a:r>
              <a:rPr lang="en-IN" sz="1200" dirty="0"/>
              <a:t>Comparative evaluation of multiple tree-based ML algorithms </a:t>
            </a:r>
          </a:p>
          <a:p>
            <a:pPr lvl="0"/>
            <a:r>
              <a:rPr lang="en-IN" sz="1200" dirty="0"/>
              <a:t>Integration of </a:t>
            </a:r>
            <a:r>
              <a:rPr lang="en-IN" sz="1200" b="1" dirty="0"/>
              <a:t>SHAP + LIME</a:t>
            </a:r>
            <a:r>
              <a:rPr lang="en-IN" sz="1200" dirty="0"/>
              <a:t> </a:t>
            </a:r>
          </a:p>
          <a:p>
            <a:pPr lvl="0"/>
            <a:r>
              <a:rPr lang="en-IN" sz="1200" dirty="0"/>
              <a:t>Interactive visualization of business KPIs </a:t>
            </a:r>
          </a:p>
          <a:p>
            <a:pPr lvl="0"/>
            <a:r>
              <a:rPr lang="en-IN" sz="1200" dirty="0"/>
              <a:t>Integration of model outputs with business-oriented insights </a:t>
            </a:r>
          </a:p>
          <a:p>
            <a:pPr lvl="0"/>
            <a:r>
              <a:rPr lang="en-IN" sz="1200" dirty="0"/>
              <a:t>Multi-dataset evaluation using retail and e-commerce datasets </a:t>
            </a:r>
          </a:p>
          <a:p>
            <a:pPr lvl="0"/>
            <a:r>
              <a:rPr lang="en-IN" sz="1200" dirty="0" err="1"/>
              <a:t>Streamlit</a:t>
            </a:r>
            <a:r>
              <a:rPr lang="en-IN" sz="1200" dirty="0"/>
              <a:t>-based interactive decision-support interface </a:t>
            </a:r>
          </a:p>
          <a:p>
            <a:pPr marL="0" indent="0">
              <a:buNone/>
            </a:pPr>
            <a:r>
              <a:rPr lang="en-IN" sz="1400" b="1" dirty="0"/>
              <a:t>Innovation Statement</a:t>
            </a:r>
          </a:p>
          <a:p>
            <a:r>
              <a:rPr lang="en-IN" sz="1200" b="1" dirty="0"/>
              <a:t>The primary innovation lies in integrating predictive analytics, explainable AI and interactive visualization into a unified business decision-support workflow.</a:t>
            </a:r>
            <a:endParaRPr lang="en-IN" sz="1200" dirty="0"/>
          </a:p>
          <a:p>
            <a:r>
              <a:rPr lang="en-IN" sz="1200" dirty="0"/>
              <a:t>The roadmap explicitly specifies Decision Tree, Random Forest, </a:t>
            </a:r>
            <a:r>
              <a:rPr lang="en-IN" sz="1200" dirty="0" err="1"/>
              <a:t>XGBoost</a:t>
            </a:r>
            <a:r>
              <a:rPr lang="en-IN" sz="1200" dirty="0"/>
              <a:t>, </a:t>
            </a:r>
            <a:r>
              <a:rPr lang="en-IN" sz="1200" dirty="0" err="1"/>
              <a:t>LightGBM</a:t>
            </a:r>
            <a:r>
              <a:rPr lang="en-IN" sz="1200" dirty="0"/>
              <a:t>, </a:t>
            </a:r>
            <a:r>
              <a:rPr lang="en-IN" sz="1200" dirty="0" err="1"/>
              <a:t>CatBoost</a:t>
            </a:r>
            <a:r>
              <a:rPr lang="en-IN" sz="1200" dirty="0"/>
              <a:t>, SHAP, LIME and </a:t>
            </a:r>
            <a:r>
              <a:rPr lang="en-IN" sz="1200" dirty="0" err="1"/>
              <a:t>Streamlit</a:t>
            </a:r>
            <a:r>
              <a:rPr lang="en-IN" sz="1200" dirty="0"/>
              <a:t> as core components. 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730830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59DF1-4770-1E4D-B316-AF047BD0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Georgia" panose="02040502050405020303" pitchFamily="18" charset="0"/>
              </a:rPr>
              <a:t>VISUALIZATION</a:t>
            </a:r>
            <a:endParaRPr lang="en-IN" sz="25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1839A-0AA0-7408-9C03-D2BD8B370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10515600" cy="48649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1900" b="1" dirty="0"/>
              <a:t>Visualization Strategy</a:t>
            </a:r>
          </a:p>
          <a:p>
            <a:pPr marL="0" indent="0">
              <a:buNone/>
            </a:pPr>
            <a:r>
              <a:rPr lang="en-IN" sz="1600" b="1" dirty="0"/>
              <a:t>Statistical Visualizations</a:t>
            </a:r>
          </a:p>
          <a:p>
            <a:pPr lvl="0"/>
            <a:r>
              <a:rPr lang="en-IN" sz="1200" dirty="0"/>
              <a:t>Heatmaps </a:t>
            </a:r>
          </a:p>
          <a:p>
            <a:pPr lvl="0"/>
            <a:r>
              <a:rPr lang="en-IN" sz="1200" dirty="0"/>
              <a:t>Boxplots </a:t>
            </a:r>
          </a:p>
          <a:p>
            <a:pPr lvl="0"/>
            <a:r>
              <a:rPr lang="en-IN" sz="1200" dirty="0"/>
              <a:t>Scatter plots </a:t>
            </a:r>
          </a:p>
          <a:p>
            <a:pPr lvl="0"/>
            <a:r>
              <a:rPr lang="en-IN" sz="1200" dirty="0"/>
              <a:t>Correlation matrices </a:t>
            </a:r>
          </a:p>
          <a:p>
            <a:pPr marL="0" indent="0">
              <a:buNone/>
            </a:pPr>
            <a:r>
              <a:rPr lang="en-IN" sz="1600" b="1" dirty="0"/>
              <a:t>Business Visualizations</a:t>
            </a:r>
          </a:p>
          <a:p>
            <a:pPr lvl="0"/>
            <a:r>
              <a:rPr lang="en-IN" sz="1200" dirty="0"/>
              <a:t>Sales and trend analysis </a:t>
            </a:r>
          </a:p>
          <a:p>
            <a:pPr lvl="0"/>
            <a:r>
              <a:rPr lang="en-IN" sz="1200" dirty="0"/>
              <a:t>Profit analysis </a:t>
            </a:r>
          </a:p>
          <a:p>
            <a:pPr lvl="0"/>
            <a:r>
              <a:rPr lang="en-IN" sz="1200" dirty="0"/>
              <a:t>Customer segmentation </a:t>
            </a:r>
          </a:p>
          <a:p>
            <a:pPr lvl="0"/>
            <a:r>
              <a:rPr lang="en-IN" sz="1200" dirty="0"/>
              <a:t>Regional performance </a:t>
            </a:r>
          </a:p>
          <a:p>
            <a:pPr lvl="0"/>
            <a:r>
              <a:rPr lang="en-IN" sz="1200" dirty="0"/>
              <a:t>Product-category analysis </a:t>
            </a:r>
          </a:p>
          <a:p>
            <a:pPr marL="0" indent="0">
              <a:buNone/>
            </a:pPr>
            <a:r>
              <a:rPr lang="en-IN" sz="1600" b="1" dirty="0"/>
              <a:t>Interactive Components</a:t>
            </a:r>
          </a:p>
          <a:p>
            <a:pPr lvl="0"/>
            <a:r>
              <a:rPr lang="en-IN" sz="1200" dirty="0"/>
              <a:t>KPI cards </a:t>
            </a:r>
          </a:p>
          <a:p>
            <a:pPr lvl="0"/>
            <a:r>
              <a:rPr lang="en-IN" sz="1200" dirty="0"/>
              <a:t>Interactive charts </a:t>
            </a:r>
          </a:p>
          <a:p>
            <a:pPr lvl="0"/>
            <a:r>
              <a:rPr lang="en-IN" sz="1200" dirty="0"/>
              <a:t>Feature importance </a:t>
            </a:r>
          </a:p>
          <a:p>
            <a:pPr lvl="0"/>
            <a:r>
              <a:rPr lang="en-IN" sz="1200" dirty="0"/>
              <a:t>Model results </a:t>
            </a:r>
          </a:p>
          <a:p>
            <a:pPr marL="0" indent="0">
              <a:buNone/>
            </a:pPr>
            <a:r>
              <a:rPr lang="en-IN" sz="1600" b="1" dirty="0"/>
              <a:t>Visualization Goal</a:t>
            </a:r>
          </a:p>
          <a:p>
            <a:r>
              <a:rPr lang="en-IN" sz="1200" dirty="0"/>
              <a:t>Present complex analytical results in a form that supports </a:t>
            </a:r>
            <a:r>
              <a:rPr lang="en-IN" sz="1200" b="1" dirty="0"/>
              <a:t>fast and informed business interpretation</a:t>
            </a:r>
            <a:r>
              <a:rPr lang="en-IN" sz="1200" dirty="0"/>
              <a:t>.</a:t>
            </a:r>
          </a:p>
          <a:p>
            <a:r>
              <a:rPr lang="en-IN" sz="1200" dirty="0"/>
              <a:t>The roadmap specifies both statistical and business-oriented visualization components. 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905521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917C-F0C2-A5C9-C668-791B6DD8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Georgia" panose="02040502050405020303" pitchFamily="18" charset="0"/>
              </a:rPr>
              <a:t>PROPOSED DASHBOARD</a:t>
            </a:r>
            <a:endParaRPr lang="en-IN" sz="25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6DE1D-1EB2-5935-F5B7-7A2BDE9B4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10515600" cy="518091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2000" b="1" dirty="0"/>
              <a:t>Interactive Business Decision-Support Dashboard</a:t>
            </a:r>
          </a:p>
          <a:p>
            <a:r>
              <a:rPr lang="en-IN" sz="1700" b="1" dirty="0"/>
              <a:t>Technology: </a:t>
            </a:r>
            <a:r>
              <a:rPr lang="en-IN" sz="1700" b="1" dirty="0" err="1"/>
              <a:t>Streamlit</a:t>
            </a:r>
            <a:endParaRPr lang="en-IN" sz="1700" dirty="0"/>
          </a:p>
          <a:p>
            <a:r>
              <a:rPr lang="en-IN" sz="1700" b="1" dirty="0"/>
              <a:t>Planned Dashboard Components</a:t>
            </a:r>
          </a:p>
          <a:p>
            <a:pPr marL="0" indent="0">
              <a:buNone/>
            </a:pPr>
            <a:r>
              <a:rPr lang="en-IN" sz="2900" b="1" dirty="0"/>
              <a:t>Business Overview</a:t>
            </a:r>
          </a:p>
          <a:p>
            <a:pPr lvl="0"/>
            <a:r>
              <a:rPr lang="en-IN" sz="1700" dirty="0"/>
              <a:t>Total Sales </a:t>
            </a:r>
          </a:p>
          <a:p>
            <a:pPr lvl="0"/>
            <a:r>
              <a:rPr lang="en-IN" sz="1700" dirty="0"/>
              <a:t>Total Profit </a:t>
            </a:r>
          </a:p>
          <a:p>
            <a:pPr lvl="0"/>
            <a:r>
              <a:rPr lang="en-IN" sz="1700" dirty="0"/>
              <a:t>Orders </a:t>
            </a:r>
          </a:p>
          <a:p>
            <a:pPr lvl="0"/>
            <a:r>
              <a:rPr lang="en-IN" sz="1700" dirty="0"/>
              <a:t>Customers </a:t>
            </a:r>
          </a:p>
          <a:p>
            <a:pPr lvl="0"/>
            <a:r>
              <a:rPr lang="en-IN" sz="1700" dirty="0"/>
              <a:t>Key Performance Indicators </a:t>
            </a:r>
          </a:p>
          <a:p>
            <a:pPr marL="0" indent="0">
              <a:buNone/>
            </a:pPr>
            <a:r>
              <a:rPr lang="en-IN" sz="2500" b="1" dirty="0"/>
              <a:t>Business Analytics</a:t>
            </a:r>
            <a:endParaRPr lang="en-IN" sz="2500" dirty="0"/>
          </a:p>
          <a:p>
            <a:pPr lvl="0"/>
            <a:r>
              <a:rPr lang="en-IN" sz="1700" dirty="0"/>
              <a:t>Sales trends </a:t>
            </a:r>
          </a:p>
          <a:p>
            <a:pPr lvl="0"/>
            <a:r>
              <a:rPr lang="en-IN" sz="1700" dirty="0"/>
              <a:t>Profitability </a:t>
            </a:r>
          </a:p>
          <a:p>
            <a:pPr lvl="0"/>
            <a:r>
              <a:rPr lang="en-IN" sz="1700" dirty="0"/>
              <a:t>Regional performance </a:t>
            </a:r>
          </a:p>
          <a:p>
            <a:pPr lvl="0"/>
            <a:r>
              <a:rPr lang="en-IN" sz="1700" dirty="0"/>
              <a:t>Product categories </a:t>
            </a:r>
          </a:p>
          <a:p>
            <a:pPr lvl="0"/>
            <a:r>
              <a:rPr lang="en-IN" sz="1700" dirty="0"/>
              <a:t>Customer segmentation </a:t>
            </a:r>
          </a:p>
          <a:p>
            <a:pPr marL="0" indent="0">
              <a:buNone/>
            </a:pPr>
            <a:r>
              <a:rPr lang="en-IN" sz="3000" b="1" dirty="0"/>
              <a:t>ML Analytics</a:t>
            </a:r>
            <a:endParaRPr lang="en-IN" sz="3000" dirty="0"/>
          </a:p>
          <a:p>
            <a:pPr lvl="0"/>
            <a:r>
              <a:rPr lang="en-IN" sz="1700" dirty="0"/>
              <a:t>Model performance </a:t>
            </a:r>
          </a:p>
          <a:p>
            <a:pPr lvl="0"/>
            <a:r>
              <a:rPr lang="en-IN" sz="1700" dirty="0"/>
              <a:t>Predictions </a:t>
            </a:r>
          </a:p>
          <a:p>
            <a:pPr lvl="0"/>
            <a:r>
              <a:rPr lang="en-IN" sz="1700" dirty="0"/>
              <a:t>Feature importance </a:t>
            </a:r>
          </a:p>
          <a:p>
            <a:r>
              <a:rPr lang="en-IN" sz="1700" b="1" dirty="0"/>
              <a:t>XAI</a:t>
            </a:r>
            <a:endParaRPr lang="en-IN" sz="1700" dirty="0"/>
          </a:p>
          <a:p>
            <a:pPr lvl="0"/>
            <a:r>
              <a:rPr lang="en-IN" sz="1700" dirty="0"/>
              <a:t>SHAP explanations </a:t>
            </a:r>
          </a:p>
          <a:p>
            <a:pPr lvl="0"/>
            <a:r>
              <a:rPr lang="en-IN" sz="1700" dirty="0"/>
              <a:t>LIME explanations </a:t>
            </a:r>
          </a:p>
          <a:p>
            <a:pPr marL="0" indent="0">
              <a:buNone/>
            </a:pPr>
            <a:r>
              <a:rPr lang="en-IN" sz="3500" b="1" dirty="0"/>
              <a:t>Final Goal</a:t>
            </a:r>
          </a:p>
          <a:p>
            <a:r>
              <a:rPr lang="en-IN" sz="1700" dirty="0"/>
              <a:t>Provide a </a:t>
            </a:r>
            <a:r>
              <a:rPr lang="en-IN" sz="1700" b="1" dirty="0"/>
              <a:t>single interactive interface</a:t>
            </a:r>
            <a:r>
              <a:rPr lang="en-IN" sz="1700" dirty="0"/>
              <a:t> for exploring business data, analytical results and model-based insights</a:t>
            </a:r>
            <a:r>
              <a:rPr lang="en-IN" sz="1200" dirty="0"/>
              <a:t>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17641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2DF5-AD45-D32E-718E-B828DEF2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IMPLEMENTATION STATUS &amp; NEXT WORK</a:t>
            </a:r>
            <a:endParaRPr lang="en-IN" sz="2500" dirty="0"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34184-A84C-DAE2-4F78-26C10CA7A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673"/>
            <a:ext cx="10515600" cy="481729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1600" b="1" dirty="0"/>
              <a:t>Current Development Foundation</a:t>
            </a:r>
          </a:p>
          <a:p>
            <a:pPr lvl="0"/>
            <a:r>
              <a:rPr lang="en-IN" sz="1200" dirty="0"/>
              <a:t>Project repository structure created </a:t>
            </a:r>
          </a:p>
          <a:p>
            <a:pPr lvl="0"/>
            <a:r>
              <a:rPr lang="en-IN" sz="1200" dirty="0"/>
              <a:t>Python development environment configured </a:t>
            </a:r>
          </a:p>
          <a:p>
            <a:pPr lvl="0"/>
            <a:r>
              <a:rPr lang="en-IN" sz="1200" dirty="0"/>
              <a:t>Virtual environment created </a:t>
            </a:r>
          </a:p>
          <a:p>
            <a:pPr lvl="0"/>
            <a:r>
              <a:rPr lang="en-IN" sz="1200" dirty="0"/>
              <a:t>Required data-science and visualization packages installed </a:t>
            </a:r>
          </a:p>
          <a:p>
            <a:pPr lvl="0"/>
            <a:r>
              <a:rPr lang="en-IN" sz="1200" dirty="0"/>
              <a:t>VS Code configured for Python development </a:t>
            </a:r>
          </a:p>
          <a:p>
            <a:pPr lvl="0"/>
            <a:r>
              <a:rPr lang="en-IN" sz="1200" dirty="0"/>
              <a:t>Jupyter Notebook support configured </a:t>
            </a:r>
          </a:p>
          <a:p>
            <a:pPr lvl="0"/>
            <a:r>
              <a:rPr lang="en-IN" sz="1200" dirty="0"/>
              <a:t>Project directory organized into modular components </a:t>
            </a:r>
          </a:p>
          <a:p>
            <a:pPr marL="0" indent="0">
              <a:buNone/>
            </a:pPr>
            <a:r>
              <a:rPr lang="en-IN" sz="1600" b="1" dirty="0"/>
              <a:t>Next Implementation Activities</a:t>
            </a:r>
          </a:p>
          <a:p>
            <a:pPr lvl="0"/>
            <a:r>
              <a:rPr lang="en-IN" sz="1200" dirty="0"/>
              <a:t>Dataset validation and loading </a:t>
            </a:r>
          </a:p>
          <a:p>
            <a:pPr lvl="0"/>
            <a:r>
              <a:rPr lang="en-IN" sz="1200" dirty="0"/>
              <a:t>Data-quality assessment </a:t>
            </a:r>
          </a:p>
          <a:p>
            <a:pPr lvl="0"/>
            <a:r>
              <a:rPr lang="en-IN" sz="1200" dirty="0"/>
              <a:t>EDA implementation </a:t>
            </a:r>
          </a:p>
          <a:p>
            <a:pPr lvl="0"/>
            <a:r>
              <a:rPr lang="en-IN" sz="1200" dirty="0"/>
              <a:t>Feature engineering </a:t>
            </a:r>
          </a:p>
          <a:p>
            <a:pPr lvl="0"/>
            <a:r>
              <a:rPr lang="en-IN" sz="1200" dirty="0"/>
              <a:t>Feature selection </a:t>
            </a:r>
          </a:p>
          <a:p>
            <a:pPr lvl="0"/>
            <a:r>
              <a:rPr lang="en-IN" sz="1200" dirty="0"/>
              <a:t>ML model development </a:t>
            </a:r>
          </a:p>
          <a:p>
            <a:pPr lvl="0"/>
            <a:r>
              <a:rPr lang="en-IN" sz="1200" dirty="0"/>
              <a:t>Model evaluation </a:t>
            </a:r>
          </a:p>
          <a:p>
            <a:pPr lvl="0"/>
            <a:r>
              <a:rPr lang="en-IN" sz="1200" dirty="0"/>
              <a:t>SHAP/LIME integration </a:t>
            </a:r>
          </a:p>
          <a:p>
            <a:pPr lvl="0"/>
            <a:r>
              <a:rPr lang="en-IN" sz="1200" dirty="0"/>
              <a:t>Dashboard development </a:t>
            </a:r>
          </a:p>
          <a:p>
            <a:pPr lvl="0"/>
            <a:r>
              <a:rPr lang="en-IN" sz="1200" dirty="0"/>
              <a:t>Integration and testing </a:t>
            </a:r>
          </a:p>
          <a:p>
            <a:r>
              <a:rPr lang="en-IN" sz="1200" b="1" dirty="0"/>
              <a:t>Important:</a:t>
            </a:r>
            <a:r>
              <a:rPr lang="en-IN" sz="1200" dirty="0"/>
              <a:t> Review–1 presents the implementation plan and development foundation; completed performance numbers will be reported only after actual experiments are conducted.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2880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D920-6E3B-859F-0DB0-4072D315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Georgia" panose="02040502050405020303" pitchFamily="18" charset="0"/>
              </a:rPr>
              <a:t>CONCLUSION</a:t>
            </a:r>
            <a:endParaRPr lang="en-IN" sz="25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C0C06-C95D-6AB3-1340-3056B95A4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501"/>
            <a:ext cx="10515600" cy="4952462"/>
          </a:xfrm>
        </p:spPr>
        <p:txBody>
          <a:bodyPr>
            <a:normAutofit/>
          </a:bodyPr>
          <a:lstStyle/>
          <a:p>
            <a:r>
              <a:rPr lang="en-IN" sz="1200" b="1" dirty="0"/>
              <a:t>Conclusion</a:t>
            </a:r>
          </a:p>
          <a:p>
            <a:r>
              <a:rPr lang="en-IN" sz="1200" dirty="0"/>
              <a:t>The proposed project aims to develop an </a:t>
            </a:r>
            <a:r>
              <a:rPr lang="en-IN" sz="1200" b="1" dirty="0"/>
              <a:t>AI-assisted business decision-support platform</a:t>
            </a:r>
            <a:r>
              <a:rPr lang="en-IN" sz="1200" dirty="0"/>
              <a:t> that combines:</a:t>
            </a:r>
          </a:p>
          <a:p>
            <a:r>
              <a:rPr lang="en-IN" sz="1200" b="1" dirty="0"/>
              <a:t>Business Data</a:t>
            </a:r>
            <a:endParaRPr lang="en-IN" sz="1200" dirty="0"/>
          </a:p>
          <a:p>
            <a:r>
              <a:rPr lang="en-IN" sz="1200" dirty="0"/>
              <a:t>↓</a:t>
            </a:r>
          </a:p>
          <a:p>
            <a:r>
              <a:rPr lang="en-IN" sz="1200" b="1" dirty="0"/>
              <a:t>Data Analytics</a:t>
            </a:r>
            <a:endParaRPr lang="en-IN" sz="1200" dirty="0"/>
          </a:p>
          <a:p>
            <a:r>
              <a:rPr lang="en-IN" sz="1200" dirty="0"/>
              <a:t>↓</a:t>
            </a:r>
          </a:p>
          <a:p>
            <a:r>
              <a:rPr lang="en-IN" sz="1200" b="1" dirty="0"/>
              <a:t>Machine Learning</a:t>
            </a:r>
            <a:endParaRPr lang="en-IN" sz="1200" dirty="0"/>
          </a:p>
          <a:p>
            <a:r>
              <a:rPr lang="en-IN" sz="1200" dirty="0"/>
              <a:t>↓</a:t>
            </a:r>
          </a:p>
          <a:p>
            <a:r>
              <a:rPr lang="en-IN" sz="1200" b="1" dirty="0"/>
              <a:t>Explainable AI</a:t>
            </a:r>
            <a:endParaRPr lang="en-IN" sz="1200" dirty="0"/>
          </a:p>
          <a:p>
            <a:r>
              <a:rPr lang="en-IN" sz="1200" dirty="0"/>
              <a:t>↓</a:t>
            </a:r>
          </a:p>
          <a:p>
            <a:r>
              <a:rPr lang="en-IN" sz="1200" b="1" dirty="0"/>
              <a:t>Interactive Visualization</a:t>
            </a:r>
            <a:endParaRPr lang="en-IN" sz="1200" dirty="0"/>
          </a:p>
          <a:p>
            <a:r>
              <a:rPr lang="en-IN" sz="1200" dirty="0"/>
              <a:t>↓</a:t>
            </a:r>
          </a:p>
          <a:p>
            <a:r>
              <a:rPr lang="en-IN" sz="1200" b="1" dirty="0"/>
              <a:t>Business Decision Support</a:t>
            </a:r>
            <a:endParaRPr lang="en-IN" sz="1200" dirty="0"/>
          </a:p>
          <a:p>
            <a:r>
              <a:rPr lang="en-IN" sz="1200" dirty="0"/>
              <a:t>The system is designed to transform complex business datasets into </a:t>
            </a:r>
            <a:r>
              <a:rPr lang="en-IN" sz="1200" b="1" dirty="0"/>
              <a:t>interpretable analytical insights and actionable information</a:t>
            </a:r>
            <a:r>
              <a:rPr lang="en-IN" sz="1200" dirty="0"/>
              <a:t>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74460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1010</Words>
  <Application>Microsoft Office PowerPoint</Application>
  <PresentationFormat>Widescreen</PresentationFormat>
  <Paragraphs>202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Georgia</vt:lpstr>
      <vt:lpstr>Times New Roman</vt:lpstr>
      <vt:lpstr>Office Theme</vt:lpstr>
      <vt:lpstr>AI Assisted Data Visualization for Business Decision Support Systems</vt:lpstr>
      <vt:lpstr>PROBLEM DEFINITION</vt:lpstr>
      <vt:lpstr>MOTIVATION</vt:lpstr>
      <vt:lpstr>OBJECTIVES</vt:lpstr>
      <vt:lpstr>DATASETS</vt:lpstr>
      <vt:lpstr>LITERATURE SURVEY</vt:lpstr>
      <vt:lpstr>RESEARCH GAP</vt:lpstr>
      <vt:lpstr>NOVELTY &amp; INNOVATION</vt:lpstr>
      <vt:lpstr>VISUALIZATION</vt:lpstr>
      <vt:lpstr>PROPOSED DASHBOARD</vt:lpstr>
      <vt:lpstr>IMPLEMENTATION STATUS &amp; NEXT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dev</dc:creator>
  <cp:lastModifiedBy>Satya dev</cp:lastModifiedBy>
  <cp:revision>1</cp:revision>
  <dcterms:created xsi:type="dcterms:W3CDTF">2026-08-12T05:48:30Z</dcterms:created>
  <dcterms:modified xsi:type="dcterms:W3CDTF">2026-08-12T06:25:28Z</dcterms:modified>
</cp:coreProperties>
</file>