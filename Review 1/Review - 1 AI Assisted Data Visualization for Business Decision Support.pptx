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2" r:id="rId5"/>
    <p:sldId id="269" r:id="rId6"/>
    <p:sldId id="263" r:id="rId7"/>
    <p:sldId id="270" r:id="rId8"/>
    <p:sldId id="271" r:id="rId9"/>
    <p:sldId id="273" r:id="rId10"/>
    <p:sldId id="274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2FB1-306A-6063-10A7-763BDE419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C8E59-BDAF-E188-4CE0-F2401E00C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1BFBF-FB54-2E6E-39D9-D8FF5996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87A42-EA9A-73C8-AFDD-EC6B7A2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7E2DE-0F34-FC34-5C44-2953E5D5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66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D25-21E4-6B3D-98A8-9FF62915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1134D-A250-61FF-7D00-0A20F7E8C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001DA-E41B-0943-FB60-BF0B0F50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EAB0-F3D7-95A2-3EAB-494CBA9C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B378-33B3-544A-84B0-0E81DB9F9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6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2BF1-A562-DB2A-181C-EAF08037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C5306-0ABB-CB78-C660-FB05F113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1CBB6-1E74-FB9D-2109-9748CE4C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4940D-D390-CE44-48F5-51985E50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ECBF3-1450-91A6-49C9-B4B2784A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59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838C-582A-7172-0B8D-CBBDD5FF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68CB-2E07-378F-80DD-5A93E986B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F046B-691C-BF25-558F-6B10DEA71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E1B50-5A22-A503-55CB-99E19E2B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ED365-AC84-7DFA-CA26-DB7B17D6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5F987-B0FD-791F-EB0C-14307BFC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80BC-7DA3-F176-119F-C7E49CE70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EB928-F362-5CCF-AC3C-13BD3FF70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678CA-5B40-26C5-F350-74B6252F6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A0BC0-15DD-4ECF-1D2E-ADAC7FCE9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3D4D9-B1B3-3753-3D3D-AB6461E59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2EDC81-0B5A-FB03-CE60-1D5CF51D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B88DC4-343C-45E2-02AA-4F771E2B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DA283-0D36-2570-01E7-45603B27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8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A3C6E-AF96-635E-1702-A36DD2E40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4138A-56E9-1AE7-01FF-5C57073DF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BB9E06-3C42-86A6-4E19-32D33898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BBF04-574A-E5A8-D00C-53C2D9E0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85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F476F-22CA-DBA7-EE28-1540758A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9D9C7-50D1-6F6D-70D4-F1EE9BA7F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94F9E-EA60-A816-5D9E-AAD2B7601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94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FE1E-8249-5F1D-5CC0-EC286228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7A0D-BAFC-1DCE-EBF8-8E9D543C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B23F-874D-EB11-FFBF-EC4AC1A7F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6B401-E6E7-F453-22B1-2E513648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230F0-B76D-F01B-89F2-A6FDF5FA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377E4-62F8-EB60-4088-C11BBAD7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65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E033-CD8D-A9F8-5C08-2E9BF3C7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B1EECD-72AA-ED59-F113-76DE83A30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E0BFC-00BE-96E9-1309-9478F93F3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A7B11-ECB9-BE8D-A5EF-84836FF72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7DCEA-4602-B225-B5DE-16B725D4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1E48A-A1E6-962A-BE5C-B0F82FEB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21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5B85-0BF1-9054-99C4-068289A3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311AD-5250-92C1-2954-5C67F4BFC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CD09-1C70-3121-3FA6-59A7DAB6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8D0D7-8FC0-8B88-A266-1A3D0D95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D6F6-0158-5D0B-268B-A24CF0C4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23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7FFB7-B76F-84D7-951C-7B8C62A41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FFFB9-9152-536D-33B3-23F7CC206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DBFF6-FC77-7E45-779F-32BC8050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A4F2-45D9-34AF-C203-9B81E37C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DE12-DDB5-0EAF-0D2E-C5B7C30D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6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E2C5D8-3FAC-0D39-5F16-818F04AFD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54FA-EAD4-B414-411A-1C57D8CC8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19A9B-C44F-C8E2-178E-5405EE0CC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1122B-5D60-45F2-B385-BB21F1AF7CD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56024-CEE8-0D54-EAAB-386C710DA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BCC4-3FB0-DA3F-CA13-7C455CFB4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2B4D-E5A3-467B-94DF-196C3D7CE3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12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0BF7-C221-F6F8-8F62-97B9A30D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7091"/>
            <a:ext cx="10515600" cy="716252"/>
          </a:xfrm>
        </p:spPr>
        <p:txBody>
          <a:bodyPr>
            <a:normAutofit fontScale="90000"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AI Assisted Data Visualization for Business Decision Support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A480-E3A5-1FFC-6926-65517F789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8027"/>
            <a:ext cx="10515600" cy="3568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Analytics and Decision Support Systems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2026–2027</a:t>
            </a:r>
          </a:p>
          <a:p>
            <a:pPr marL="0" indent="0">
              <a:buNone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Harshavardhan Reddy – 2420030456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Ch. Sai Nikhil Reddy  – 2420030085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Sai Satwik  – 2420030163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Satya Dev  – 2420090120 </a:t>
            </a:r>
          </a:p>
          <a:p>
            <a:pPr marL="0" indent="0">
              <a:buNone/>
            </a:pP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Dr. Swapnika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10222-CACD-6E14-C749-EDA45B4C0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426" y="248184"/>
            <a:ext cx="9573369" cy="8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4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6D18-BABB-D4E0-4779-D305C36B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695"/>
            <a:ext cx="10515600" cy="712678"/>
          </a:xfrm>
        </p:spPr>
        <p:txBody>
          <a:bodyPr>
            <a:normAutofit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PROBLEM DEFINITION</a:t>
            </a:r>
            <a:endParaRPr lang="en-IN" sz="2500" u="sng" dirty="0">
              <a:latin typeface="Georgia" panose="02040502050405020303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43520E-0DCD-D53C-04D2-B09C26E34E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73273"/>
              </p:ext>
            </p:extLst>
          </p:nvPr>
        </p:nvGraphicFramePr>
        <p:xfrm>
          <a:off x="838200" y="2210463"/>
          <a:ext cx="10515600" cy="3140767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19024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89530384"/>
                    </a:ext>
                  </a:extLst>
                </a:gridCol>
              </a:tblGrid>
              <a:tr h="5663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793148"/>
                  </a:ext>
                </a:extLst>
              </a:tr>
              <a:tr h="5148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790256"/>
                  </a:ext>
                </a:extLst>
              </a:tr>
              <a:tr h="5148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936666"/>
                  </a:ext>
                </a:extLst>
              </a:tr>
              <a:tr h="5148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537638"/>
                  </a:ext>
                </a:extLst>
              </a:tr>
              <a:tr h="5148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24235"/>
                  </a:ext>
                </a:extLst>
              </a:tr>
              <a:tr h="51488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123779"/>
                  </a:ext>
                </a:extLst>
              </a:tr>
            </a:tbl>
          </a:graphicData>
        </a:graphic>
      </p:graphicFrame>
      <p:pic>
        <p:nvPicPr>
          <p:cNvPr id="4" name="image1.png" title="Image">
            <a:extLst>
              <a:ext uri="{FF2B5EF4-FFF2-40B4-BE49-F238E27FC236}">
                <a16:creationId xmlns:a16="http://schemas.microsoft.com/office/drawing/2014/main" id="{8C5DAA2E-8704-4E5C-BDB2-9D5AE9D2BD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303" y="296779"/>
            <a:ext cx="9947081" cy="863600"/>
          </a:xfrm>
          <a:prstGeom prst="rect">
            <a:avLst/>
          </a:prstGeom>
          <a:noFill/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77356A4-D8EF-497F-8F4F-FE4589714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00318"/>
              </p:ext>
            </p:extLst>
          </p:nvPr>
        </p:nvGraphicFramePr>
        <p:xfrm>
          <a:off x="628153" y="1937689"/>
          <a:ext cx="10861482" cy="397012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430741">
                  <a:extLst>
                    <a:ext uri="{9D8B030D-6E8A-4147-A177-3AD203B41FA5}">
                      <a16:colId xmlns:a16="http://schemas.microsoft.com/office/drawing/2014/main" val="4174753712"/>
                    </a:ext>
                  </a:extLst>
                </a:gridCol>
                <a:gridCol w="5430741">
                  <a:extLst>
                    <a:ext uri="{9D8B030D-6E8A-4147-A177-3AD203B41FA5}">
                      <a16:colId xmlns:a16="http://schemas.microsoft.com/office/drawing/2014/main" val="1205059534"/>
                    </a:ext>
                  </a:extLst>
                </a:gridCol>
              </a:tblGrid>
              <a:tr h="661688">
                <a:tc>
                  <a:txBody>
                    <a:bodyPr/>
                    <a:lstStyle/>
                    <a:p>
                      <a:r>
                        <a:rPr lang="en-US" dirty="0"/>
                        <a:t>Existing Solution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147086"/>
                  </a:ext>
                </a:extLst>
              </a:tr>
              <a:tr h="661688">
                <a:tc>
                  <a:txBody>
                    <a:bodyPr/>
                    <a:lstStyle/>
                    <a:p>
                      <a:r>
                        <a:rPr lang="en-IN" dirty="0"/>
                        <a:t>Large volumes of business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Difficult to convert raw data into actionable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739196"/>
                  </a:ext>
                </a:extLst>
              </a:tr>
              <a:tr h="661688">
                <a:tc>
                  <a:txBody>
                    <a:bodyPr/>
                    <a:lstStyle/>
                    <a:p>
                      <a:r>
                        <a:rPr lang="en-IN" dirty="0"/>
                        <a:t>Conventional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Mainly provide descriptive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437097"/>
                  </a:ext>
                </a:extLst>
              </a:tr>
              <a:tr h="661688">
                <a:tc>
                  <a:txBody>
                    <a:bodyPr/>
                    <a:lstStyle/>
                    <a:p>
                      <a:r>
                        <a:rPr lang="en-IN" dirty="0"/>
                        <a:t>ML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Predictions may be difficult for business users to interpret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791374"/>
                  </a:ext>
                </a:extLst>
              </a:tr>
              <a:tr h="661688">
                <a:tc>
                  <a:txBody>
                    <a:bodyPr/>
                    <a:lstStyle/>
                    <a:p>
                      <a:r>
                        <a:rPr lang="en-IN" dirty="0"/>
                        <a:t>Multiple analytical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Analytics, prediction and visualization are often disconnected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861730"/>
                  </a:ext>
                </a:extLst>
              </a:tr>
              <a:tr h="661688">
                <a:tc>
                  <a:txBody>
                    <a:bodyPr/>
                    <a:lstStyle/>
                    <a:p>
                      <a:r>
                        <a:rPr lang="en-IN" dirty="0"/>
                        <a:t>Business decision-making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Requires Timely, interpretable and actionable insights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62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79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61D0-FCFE-CF29-C7BE-34215C9F9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4453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RESEARCH OBJECTIVES</a:t>
            </a:r>
            <a:endParaRPr lang="en-IN" sz="2500" u="sng" dirty="0">
              <a:latin typeface="Georgia" panose="02040502050405020303" pitchFamily="18" charset="0"/>
            </a:endParaRPr>
          </a:p>
        </p:txBody>
      </p:sp>
      <p:pic>
        <p:nvPicPr>
          <p:cNvPr id="4" name="image1.png" title="Image">
            <a:extLst>
              <a:ext uri="{FF2B5EF4-FFF2-40B4-BE49-F238E27FC236}">
                <a16:creationId xmlns:a16="http://schemas.microsoft.com/office/drawing/2014/main" id="{8C5DAA2E-8704-4E5C-BDB2-9D5AE9D2BD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90853"/>
            <a:ext cx="10515600" cy="1063018"/>
          </a:xfrm>
          <a:prstGeom prst="rect">
            <a:avLst/>
          </a:prstGeom>
          <a:noFill/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7CF3293-215F-6C26-16D7-C5AD4A828424}"/>
              </a:ext>
            </a:extLst>
          </p:cNvPr>
          <p:cNvSpPr txBox="1"/>
          <p:nvPr/>
        </p:nvSpPr>
        <p:spPr>
          <a:xfrm>
            <a:off x="262393" y="2441050"/>
            <a:ext cx="11736125" cy="4182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9B0AD98-5645-4108-5C65-7571C70AF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819875"/>
              </p:ext>
            </p:extLst>
          </p:nvPr>
        </p:nvGraphicFramePr>
        <p:xfrm>
          <a:off x="898496" y="2531096"/>
          <a:ext cx="10304892" cy="332106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152446">
                  <a:extLst>
                    <a:ext uri="{9D8B030D-6E8A-4147-A177-3AD203B41FA5}">
                      <a16:colId xmlns:a16="http://schemas.microsoft.com/office/drawing/2014/main" val="4083005689"/>
                    </a:ext>
                  </a:extLst>
                </a:gridCol>
                <a:gridCol w="5152446">
                  <a:extLst>
                    <a:ext uri="{9D8B030D-6E8A-4147-A177-3AD203B41FA5}">
                      <a16:colId xmlns:a16="http://schemas.microsoft.com/office/drawing/2014/main" val="2542684358"/>
                    </a:ext>
                  </a:extLst>
                </a:gridCol>
              </a:tblGrid>
              <a:tr h="5535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Objective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Research Objective 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854713"/>
                  </a:ext>
                </a:extLst>
              </a:tr>
              <a:tr h="553511">
                <a:tc>
                  <a:txBody>
                    <a:bodyPr/>
                    <a:lstStyle/>
                    <a:p>
                      <a:r>
                        <a:rPr lang="en-US" sz="1600" dirty="0"/>
                        <a:t>RO1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 develop a systematic data analytics pipeline for preprocessing and </a:t>
                      </a:r>
                      <a:r>
                        <a:rPr lang="en-IN" sz="1200" dirty="0" err="1"/>
                        <a:t>analyzing</a:t>
                      </a:r>
                      <a:r>
                        <a:rPr lang="en-IN" sz="1200" dirty="0"/>
                        <a:t> heterogeneous business datasets.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657620"/>
                  </a:ext>
                </a:extLst>
              </a:tr>
              <a:tr h="553511">
                <a:tc>
                  <a:txBody>
                    <a:bodyPr/>
                    <a:lstStyle/>
                    <a:p>
                      <a:r>
                        <a:rPr lang="en-US" sz="1600" dirty="0"/>
                        <a:t>RO2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 develop and compare multiple machine learning models for generating predictive business insights.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651365"/>
                  </a:ext>
                </a:extLst>
              </a:tr>
              <a:tr h="553511">
                <a:tc>
                  <a:txBody>
                    <a:bodyPr/>
                    <a:lstStyle/>
                    <a:p>
                      <a:r>
                        <a:rPr lang="en-US" sz="1600" dirty="0"/>
                        <a:t>RO3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 integrate Explainable AI techniques such as SHAP and LIME to improve transparency of model predictions.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747995"/>
                  </a:ext>
                </a:extLst>
              </a:tr>
              <a:tr h="553511">
                <a:tc>
                  <a:txBody>
                    <a:bodyPr/>
                    <a:lstStyle/>
                    <a:p>
                      <a:r>
                        <a:rPr lang="en-US" sz="1600" dirty="0"/>
                        <a:t>RO4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 develop interactive visualizations and dashboards for communicating business KPIs, trends and analytical results.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918180"/>
                  </a:ext>
                </a:extLst>
              </a:tr>
              <a:tr h="553511">
                <a:tc>
                  <a:txBody>
                    <a:bodyPr/>
                    <a:lstStyle/>
                    <a:p>
                      <a:r>
                        <a:rPr lang="en-US" sz="1600" dirty="0"/>
                        <a:t>RO5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To integrate predictive analytics, explainability and visualization into a unified business decision-support framework.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56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76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CE30-F762-68A6-6682-1E60273B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206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LITERATURE SURVEY  Papers 1 – 5:</a:t>
            </a:r>
            <a:endParaRPr lang="en-IN" sz="2500" u="sng" dirty="0">
              <a:latin typeface="Georgia" panose="02040502050405020303" pitchFamily="18" charset="0"/>
            </a:endParaRPr>
          </a:p>
        </p:txBody>
      </p:sp>
      <p:pic>
        <p:nvPicPr>
          <p:cNvPr id="4" name="image1.png" title="Image">
            <a:extLst>
              <a:ext uri="{FF2B5EF4-FFF2-40B4-BE49-F238E27FC236}">
                <a16:creationId xmlns:a16="http://schemas.microsoft.com/office/drawing/2014/main" id="{8C5DAA2E-8704-4E5C-BDB2-9D5AE9D2BD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8496" y="415800"/>
            <a:ext cx="10455303" cy="1071093"/>
          </a:xfrm>
          <a:prstGeom prst="rect">
            <a:avLst/>
          </a:prstGeom>
          <a:noFill/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CD5BCC7-5DC6-1D40-F8F0-EA2ABF6ACB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887767"/>
              </p:ext>
            </p:extLst>
          </p:nvPr>
        </p:nvGraphicFramePr>
        <p:xfrm>
          <a:off x="898496" y="2239298"/>
          <a:ext cx="10515600" cy="43253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771278">
                  <a:extLst>
                    <a:ext uri="{9D8B030D-6E8A-4147-A177-3AD203B41FA5}">
                      <a16:colId xmlns:a16="http://schemas.microsoft.com/office/drawing/2014/main" val="2205692139"/>
                    </a:ext>
                  </a:extLst>
                </a:gridCol>
                <a:gridCol w="1375576">
                  <a:extLst>
                    <a:ext uri="{9D8B030D-6E8A-4147-A177-3AD203B41FA5}">
                      <a16:colId xmlns:a16="http://schemas.microsoft.com/office/drawing/2014/main" val="1590478848"/>
                    </a:ext>
                  </a:extLst>
                </a:gridCol>
                <a:gridCol w="3927944">
                  <a:extLst>
                    <a:ext uri="{9D8B030D-6E8A-4147-A177-3AD203B41FA5}">
                      <a16:colId xmlns:a16="http://schemas.microsoft.com/office/drawing/2014/main" val="1031269330"/>
                    </a:ext>
                  </a:extLst>
                </a:gridCol>
                <a:gridCol w="1773141">
                  <a:extLst>
                    <a:ext uri="{9D8B030D-6E8A-4147-A177-3AD203B41FA5}">
                      <a16:colId xmlns:a16="http://schemas.microsoft.com/office/drawing/2014/main" val="4117128715"/>
                    </a:ext>
                  </a:extLst>
                </a:gridCol>
                <a:gridCol w="2667661">
                  <a:extLst>
                    <a:ext uri="{9D8B030D-6E8A-4147-A177-3AD203B41FA5}">
                      <a16:colId xmlns:a16="http://schemas.microsoft.com/office/drawing/2014/main" val="2446489210"/>
                    </a:ext>
                  </a:extLst>
                </a:gridCol>
              </a:tblGrid>
              <a:tr h="700484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378441"/>
                  </a:ext>
                </a:extLst>
              </a:tr>
              <a:tr h="70048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Sokol &amp; Flach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Interpretable representations in explainable AI: from theory to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Data Mining and Knowledge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Studies interpretable representations and their effect on explanation quality and reliability.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275918"/>
                  </a:ext>
                </a:extLst>
              </a:tr>
              <a:tr h="70048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Bozorgpanah</a:t>
                      </a:r>
                      <a:r>
                        <a:rPr lang="en-IN" sz="1200" dirty="0"/>
                        <a:t> &amp; Torra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Explainable machine learning models with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Progress in Artificial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Examines the trade-off between explainability and privacy, including </a:t>
                      </a:r>
                      <a:r>
                        <a:rPr lang="en-IN" sz="1200" dirty="0" err="1"/>
                        <a:t>TreeSHAP</a:t>
                      </a:r>
                      <a:r>
                        <a:rPr lang="en-IN" sz="12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021676"/>
                  </a:ext>
                </a:extLst>
              </a:tr>
              <a:tr h="70048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Kabašinskas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Explainable artificial intelligence (XAI) in finance: a systematic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Artificial Intelligence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Reviews XAI applications and identifies SHAP, feature importance and related methods as widely used.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844190"/>
                  </a:ext>
                </a:extLst>
              </a:tr>
              <a:tr h="70048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Brughmans</a:t>
                      </a:r>
                      <a:r>
                        <a:rPr lang="en-IN" sz="1200" dirty="0"/>
                        <a:t>, Melis &amp; Martens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Disagreement amongst counterfactual explanations: how transparency can be misleading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Shows that different explanation methods can disagree, highlighting the need for careful explanation evaluation.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9114"/>
                  </a:ext>
                </a:extLst>
              </a:tr>
              <a:tr h="700484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Atzmueller</a:t>
                      </a:r>
                      <a:r>
                        <a:rPr lang="en-IN" sz="12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Explainable and interpretable machine learning and data mining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Data Mining and Knowledge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Discusses explainability, interpretability, model transparency and their importance in data mining and decision support.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14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1762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8352E-D122-4419-3743-4068F1694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036026"/>
              </p:ext>
            </p:extLst>
          </p:nvPr>
        </p:nvGraphicFramePr>
        <p:xfrm>
          <a:off x="351182" y="1510749"/>
          <a:ext cx="11489635" cy="4860684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76793">
                  <a:extLst>
                    <a:ext uri="{9D8B030D-6E8A-4147-A177-3AD203B41FA5}">
                      <a16:colId xmlns:a16="http://schemas.microsoft.com/office/drawing/2014/main" val="1674637932"/>
                    </a:ext>
                  </a:extLst>
                </a:gridCol>
                <a:gridCol w="1717482">
                  <a:extLst>
                    <a:ext uri="{9D8B030D-6E8A-4147-A177-3AD203B41FA5}">
                      <a16:colId xmlns:a16="http://schemas.microsoft.com/office/drawing/2014/main" val="1222496594"/>
                    </a:ext>
                  </a:extLst>
                </a:gridCol>
                <a:gridCol w="3808675">
                  <a:extLst>
                    <a:ext uri="{9D8B030D-6E8A-4147-A177-3AD203B41FA5}">
                      <a16:colId xmlns:a16="http://schemas.microsoft.com/office/drawing/2014/main" val="3704680437"/>
                    </a:ext>
                  </a:extLst>
                </a:gridCol>
                <a:gridCol w="1574358">
                  <a:extLst>
                    <a:ext uri="{9D8B030D-6E8A-4147-A177-3AD203B41FA5}">
                      <a16:colId xmlns:a16="http://schemas.microsoft.com/office/drawing/2014/main" val="2183811214"/>
                    </a:ext>
                  </a:extLst>
                </a:gridCol>
                <a:gridCol w="3212327">
                  <a:extLst>
                    <a:ext uri="{9D8B030D-6E8A-4147-A177-3AD203B41FA5}">
                      <a16:colId xmlns:a16="http://schemas.microsoft.com/office/drawing/2014/main" val="399390569"/>
                    </a:ext>
                  </a:extLst>
                </a:gridCol>
              </a:tblGrid>
              <a:tr h="516834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AUHTORS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SOURCE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456697"/>
                  </a:ext>
                </a:extLst>
              </a:tr>
              <a:tr h="868770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Iovane</a:t>
                      </a:r>
                      <a:r>
                        <a:rPr lang="en-IN" sz="1200" dirty="0"/>
                        <a:t> &amp; Chinnici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Decision Support System Driven by Thermo-Complexity: Scenario Analysis and Data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Applied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Connects dimensional analysis, scenario analysis and visualization with decision-support system design.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965281"/>
                  </a:ext>
                </a:extLst>
              </a:tr>
              <a:tr h="868770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Brumar</a:t>
                      </a:r>
                      <a:r>
                        <a:rPr lang="en-IN" sz="12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Typology of Decision-Making Tasks for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Visualization community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Defines decision-making tasks for visualization and supports more systematic design of decision-support visualizations.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454809"/>
                  </a:ext>
                </a:extLst>
              </a:tr>
              <a:tr h="868770">
                <a:tc>
                  <a:txBody>
                    <a:bodyPr/>
                    <a:lstStyle/>
                    <a:p>
                      <a:r>
                        <a:rPr lang="en-US" dirty="0"/>
                        <a:t>2024/2025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Haas &amp; </a:t>
                      </a:r>
                      <a:r>
                        <a:rPr lang="en-IN" sz="1200" dirty="0" err="1"/>
                        <a:t>Hüllermeier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err="1"/>
                        <a:t>Conformalized</a:t>
                      </a:r>
                      <a:r>
                        <a:rPr lang="en-IN" sz="1200" dirty="0"/>
                        <a:t> prescriptive machine learning for uncertainty-aware automated decision making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International Journal of Data Science and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Demonstrates uncertainty-aware ML for business decision processes while retaining human decision control.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270539"/>
                  </a:ext>
                </a:extLst>
              </a:tr>
              <a:tr h="868770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Staudinger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Knowledge graph support for descriptive business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Springer –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Addresses the difficulty of interpreting analytics results and retrieving the knowledge needed to justify business decisions.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961687"/>
                  </a:ext>
                </a:extLst>
              </a:tr>
              <a:tr h="868770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Lyu &amp; 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Explainable Artificial Intelligence for Business and Economics: Methods, Applications and 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Wiley – Expert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Reviews XAI methods and applications relevant to business and economics, including transparency and practical challenges.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96832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21EC23-A47C-2681-55B4-3ED7E74E425C}"/>
              </a:ext>
            </a:extLst>
          </p:cNvPr>
          <p:cNvSpPr txBox="1"/>
          <p:nvPr/>
        </p:nvSpPr>
        <p:spPr>
          <a:xfrm>
            <a:off x="351182" y="365760"/>
            <a:ext cx="114896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latin typeface="Georgia" panose="02040502050405020303" pitchFamily="18" charset="0"/>
              </a:rPr>
              <a:t>LITERATURE SURVEY  Papers 6 – 10: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319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6C2C-B21B-A230-40DB-FA7334CE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554"/>
            <a:ext cx="10515600" cy="823996"/>
          </a:xfrm>
        </p:spPr>
        <p:txBody>
          <a:bodyPr>
            <a:normAutofit/>
          </a:bodyPr>
          <a:lstStyle/>
          <a:p>
            <a:r>
              <a:rPr lang="en-IN" sz="2500" u="sng" dirty="0">
                <a:latin typeface="Georgia" panose="02040502050405020303" pitchFamily="18" charset="0"/>
              </a:rPr>
              <a:t>RESEARCH GAP IDENTIFICATION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5F6D9AC-EEC2-0FF6-23CB-17818EDB8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264882"/>
              </p:ext>
            </p:extLst>
          </p:nvPr>
        </p:nvGraphicFramePr>
        <p:xfrm>
          <a:off x="838200" y="2266410"/>
          <a:ext cx="10515597" cy="4229808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863379">
                  <a:extLst>
                    <a:ext uri="{9D8B030D-6E8A-4147-A177-3AD203B41FA5}">
                      <a16:colId xmlns:a16="http://schemas.microsoft.com/office/drawing/2014/main" val="2152187210"/>
                    </a:ext>
                  </a:extLst>
                </a:gridCol>
                <a:gridCol w="6147019">
                  <a:extLst>
                    <a:ext uri="{9D8B030D-6E8A-4147-A177-3AD203B41FA5}">
                      <a16:colId xmlns:a16="http://schemas.microsoft.com/office/drawing/2014/main" val="10011410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67981459"/>
                    </a:ext>
                  </a:extLst>
                </a:gridCol>
              </a:tblGrid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GAP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 Gap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Derived From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25822"/>
                  </a:ext>
                </a:extLst>
              </a:tr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RG1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Limited integration of data preprocessing, predictive analytics and interactive visualization within a unified framework.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Collective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571595"/>
                  </a:ext>
                </a:extLst>
              </a:tr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RG2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Limited incorporation of explainability alongside predictive business analytics.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Interpretability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256410"/>
                  </a:ext>
                </a:extLst>
              </a:tr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RG3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Insufficient comparative evaluation of multiple ensemble learning approaches for business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Model evaluation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850853"/>
                  </a:ext>
                </a:extLst>
              </a:tr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RG4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Limited conversion of analytical/model outputs into interactive business decision-support insights.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Visualization &amp; usability 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528447"/>
                  </a:ext>
                </a:extLst>
              </a:tr>
              <a:tr h="704968">
                <a:tc>
                  <a:txBody>
                    <a:bodyPr/>
                    <a:lstStyle/>
                    <a:p>
                      <a:r>
                        <a:rPr lang="en-US" dirty="0"/>
                        <a:t>RG5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Lack of an integrated framework combining prediction, explanation and interactive visualization for heterogeneous business datasets.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Overall synthesis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179683"/>
                  </a:ext>
                </a:extLst>
              </a:tr>
            </a:tbl>
          </a:graphicData>
        </a:graphic>
      </p:graphicFrame>
      <p:pic>
        <p:nvPicPr>
          <p:cNvPr id="4" name="image1.png" title="Image">
            <a:extLst>
              <a:ext uri="{FF2B5EF4-FFF2-40B4-BE49-F238E27FC236}">
                <a16:creationId xmlns:a16="http://schemas.microsoft.com/office/drawing/2014/main" id="{8C5DAA2E-8704-4E5C-BDB2-9D5AE9D2BD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607629"/>
            <a:ext cx="10515600" cy="86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434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53B8-0E87-497D-3856-6B780A1D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948" y="953522"/>
            <a:ext cx="10515600" cy="787814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Georgia" panose="02040502050405020303" pitchFamily="18" charset="0"/>
              </a:rPr>
              <a:t>PROPOSED INNOVATION</a:t>
            </a:r>
            <a:endParaRPr lang="en-IN" sz="2800" u="sng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8AEC71-1A78-B3FD-4998-DBCC306C4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932220"/>
              </p:ext>
            </p:extLst>
          </p:nvPr>
        </p:nvGraphicFramePr>
        <p:xfrm>
          <a:off x="648032" y="1963971"/>
          <a:ext cx="10325432" cy="287340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165035">
                  <a:extLst>
                    <a:ext uri="{9D8B030D-6E8A-4147-A177-3AD203B41FA5}">
                      <a16:colId xmlns:a16="http://schemas.microsoft.com/office/drawing/2014/main" val="2037848015"/>
                    </a:ext>
                  </a:extLst>
                </a:gridCol>
                <a:gridCol w="5160397">
                  <a:extLst>
                    <a:ext uri="{9D8B030D-6E8A-4147-A177-3AD203B41FA5}">
                      <a16:colId xmlns:a16="http://schemas.microsoft.com/office/drawing/2014/main" val="2844611181"/>
                    </a:ext>
                  </a:extLst>
                </a:gridCol>
              </a:tblGrid>
              <a:tr h="410486">
                <a:tc>
                  <a:txBody>
                    <a:bodyPr/>
                    <a:lstStyle/>
                    <a:p>
                      <a:r>
                        <a:rPr lang="en-US" sz="1800" dirty="0"/>
                        <a:t>Existing Approach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Proposed Enhancement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927189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Separate analytics and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Integrated analytics + visualization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707876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Prediction without sufficient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Prediction + SHAP/LIME explanations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634914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Single/limited model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Comparative evaluation of multiple ML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371559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Static analytical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Interactive </a:t>
                      </a:r>
                      <a:r>
                        <a:rPr lang="en-IN" sz="1400" dirty="0" err="1"/>
                        <a:t>Streamlit</a:t>
                      </a:r>
                      <a:r>
                        <a:rPr lang="en-IN" sz="1400" dirty="0"/>
                        <a:t>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0778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Dataset-specific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Evaluation across three business datasets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237434"/>
                  </a:ext>
                </a:extLst>
              </a:tr>
              <a:tr h="410486">
                <a:tc>
                  <a:txBody>
                    <a:bodyPr/>
                    <a:lstStyle/>
                    <a:p>
                      <a:r>
                        <a:rPr lang="en-IN" sz="1400" dirty="0"/>
                        <a:t>Insights presented separately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Business-oriented decision-support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98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36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C7BF-01F2-CC72-2B1A-8844D07D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12" y="1038529"/>
            <a:ext cx="10515600" cy="700350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Georgia" panose="02040502050405020303" pitchFamily="18" charset="0"/>
              </a:rPr>
              <a:t>FEASIBILITY </a:t>
            </a:r>
            <a:endParaRPr lang="en-IN" sz="2800" u="sng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8B685E-8AA8-2FC3-9C4C-5BC8C6DE0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498077"/>
              </p:ext>
            </p:extLst>
          </p:nvPr>
        </p:nvGraphicFramePr>
        <p:xfrm>
          <a:off x="663271" y="2035534"/>
          <a:ext cx="10515600" cy="36973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276353">
                  <a:extLst>
                    <a:ext uri="{9D8B030D-6E8A-4147-A177-3AD203B41FA5}">
                      <a16:colId xmlns:a16="http://schemas.microsoft.com/office/drawing/2014/main" val="4018868805"/>
                    </a:ext>
                  </a:extLst>
                </a:gridCol>
                <a:gridCol w="5239247">
                  <a:extLst>
                    <a:ext uri="{9D8B030D-6E8A-4147-A177-3AD203B41FA5}">
                      <a16:colId xmlns:a16="http://schemas.microsoft.com/office/drawing/2014/main" val="2297327522"/>
                    </a:ext>
                  </a:extLst>
                </a:gridCol>
              </a:tblGrid>
              <a:tr h="411613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4736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385189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VS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30166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Pandas, </a:t>
                      </a:r>
                      <a:r>
                        <a:rPr lang="en-US" sz="1200" dirty="0" err="1"/>
                        <a:t>Numpy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50395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Visualization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Matplotlib, Seaborn, </a:t>
                      </a:r>
                      <a:r>
                        <a:rPr lang="en-IN" sz="1200" dirty="0" err="1"/>
                        <a:t>Plotly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26928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ML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Scikit-learn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923454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Boosting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XGBoost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LightGBM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CatBoost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55718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Explainability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SHAP, LIME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67171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Dashboard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Streamlit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19378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Notebook Environment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Jupyter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197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30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1CB8-F3B4-CFC7-F364-89F4CA28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FA75-C422-00EF-D1F5-E2CD78505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12" y="1038529"/>
            <a:ext cx="10515600" cy="700350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Georgia" panose="02040502050405020303" pitchFamily="18" charset="0"/>
              </a:rPr>
              <a:t>PROJECT PLAN</a:t>
            </a:r>
            <a:endParaRPr lang="en-IN" sz="2800" u="sng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EB4CF8-4B17-871B-F438-50F068123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565013"/>
              </p:ext>
            </p:extLst>
          </p:nvPr>
        </p:nvGraphicFramePr>
        <p:xfrm>
          <a:off x="663271" y="2035534"/>
          <a:ext cx="10515600" cy="311217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276353">
                  <a:extLst>
                    <a:ext uri="{9D8B030D-6E8A-4147-A177-3AD203B41FA5}">
                      <a16:colId xmlns:a16="http://schemas.microsoft.com/office/drawing/2014/main" val="4018868805"/>
                    </a:ext>
                  </a:extLst>
                </a:gridCol>
                <a:gridCol w="5239247">
                  <a:extLst>
                    <a:ext uri="{9D8B030D-6E8A-4147-A177-3AD203B41FA5}">
                      <a16:colId xmlns:a16="http://schemas.microsoft.com/office/drawing/2014/main" val="2297327522"/>
                    </a:ext>
                  </a:extLst>
                </a:gridCol>
              </a:tblGrid>
              <a:tr h="556591">
                <a:tc>
                  <a:txBody>
                    <a:bodyPr/>
                    <a:lstStyle/>
                    <a:p>
                      <a:r>
                        <a:rPr lang="en-US" dirty="0"/>
                        <a:t>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4736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Phase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Literature survey &amp; Research gap identification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385189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Phase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Dataset acquisition &amp; data 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30166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Preprocessing and EDA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50395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Feature Engineering and ML Development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26928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XAI &amp; </a:t>
                      </a:r>
                      <a:r>
                        <a:rPr lang="en-US" sz="1200" dirty="0" err="1"/>
                        <a:t>Comparitive</a:t>
                      </a:r>
                      <a:r>
                        <a:rPr lang="en-US" sz="1200" dirty="0"/>
                        <a:t> Evaluation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923454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Dashboard and Decision Support Integration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55718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IN" sz="1200" dirty="0"/>
                        <a:t>Phase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Testing Documentation &amp; Final Evaluation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67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50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207E-1484-6C21-61FC-D68FC38C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A38A-302A-3F61-FBEC-5F75C22EC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612" y="1038529"/>
            <a:ext cx="10515600" cy="700350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Georgia" panose="02040502050405020303" pitchFamily="18" charset="0"/>
              </a:rPr>
              <a:t>EXPECTED OUTCOME</a:t>
            </a:r>
            <a:endParaRPr lang="en-IN" sz="2800" u="sng" dirty="0">
              <a:latin typeface="Georgia" panose="02040502050405020303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D06D391-7194-D85A-43CF-9F7B38CB1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1770510"/>
              </p:ext>
            </p:extLst>
          </p:nvPr>
        </p:nvGraphicFramePr>
        <p:xfrm>
          <a:off x="663271" y="2035534"/>
          <a:ext cx="10515600" cy="274708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276353">
                  <a:extLst>
                    <a:ext uri="{9D8B030D-6E8A-4147-A177-3AD203B41FA5}">
                      <a16:colId xmlns:a16="http://schemas.microsoft.com/office/drawing/2014/main" val="4018868805"/>
                    </a:ext>
                  </a:extLst>
                </a:gridCol>
                <a:gridCol w="5239247">
                  <a:extLst>
                    <a:ext uri="{9D8B030D-6E8A-4147-A177-3AD203B41FA5}">
                      <a16:colId xmlns:a16="http://schemas.microsoft.com/office/drawing/2014/main" val="2297327522"/>
                    </a:ext>
                  </a:extLst>
                </a:gridCol>
              </a:tblGrid>
              <a:tr h="556591">
                <a:tc>
                  <a:txBody>
                    <a:bodyPr/>
                    <a:lstStyle/>
                    <a:p>
                      <a:r>
                        <a:rPr lang="en-US" dirty="0"/>
                        <a:t>Area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Outcome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4736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</a:t>
                      </a:r>
                      <a:r>
                        <a:rPr lang="en-IN" sz="1200" dirty="0" err="1"/>
                        <a:t>nalytics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Meaningful business trends and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385189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Prediction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Predictive Business insights using ML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830166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Explainability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Transparent interpretation using SHAP/LIME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7850395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/>
                        <a:t>Visualization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Interactive KPI and analytical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269282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 err="1"/>
                        <a:t>Comparision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</a:t>
                      </a:r>
                      <a:r>
                        <a:rPr lang="en-IN" sz="1200" dirty="0" err="1"/>
                        <a:t>erformance</a:t>
                      </a:r>
                      <a:r>
                        <a:rPr lang="en-IN" sz="1200" dirty="0"/>
                        <a:t> </a:t>
                      </a:r>
                      <a:r>
                        <a:rPr lang="en-IN" sz="1200" dirty="0" err="1"/>
                        <a:t>comparision</a:t>
                      </a:r>
                      <a:r>
                        <a:rPr lang="en-IN" sz="1200" dirty="0"/>
                        <a:t> of ML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2923454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r>
                        <a:rPr lang="en-US" sz="1200" dirty="0" err="1"/>
                        <a:t>Decesion</a:t>
                      </a:r>
                      <a:r>
                        <a:rPr lang="en-US" sz="1200" dirty="0"/>
                        <a:t> Support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Actionable insights for business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95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487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3B92D0-2483-475C-6074-06D9A5558D58}"/>
              </a:ext>
            </a:extLst>
          </p:cNvPr>
          <p:cNvSpPr txBox="1"/>
          <p:nvPr/>
        </p:nvSpPr>
        <p:spPr>
          <a:xfrm>
            <a:off x="4611757" y="3167390"/>
            <a:ext cx="8253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eorgia" panose="02040502050405020303" pitchFamily="18" charset="0"/>
              </a:rPr>
              <a:t>THANK YOU</a:t>
            </a:r>
            <a:endParaRPr lang="en-IN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05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843</Words>
  <Application>Microsoft Office PowerPoint</Application>
  <PresentationFormat>Widescreen</PresentationFormat>
  <Paragraphs>186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Times New Roman</vt:lpstr>
      <vt:lpstr>Office Theme</vt:lpstr>
      <vt:lpstr>AI Assisted Data Visualization for Business Decision Support Systems</vt:lpstr>
      <vt:lpstr>PROBLEM DEFINITION</vt:lpstr>
      <vt:lpstr>RESEARCH OBJECTIVES</vt:lpstr>
      <vt:lpstr>LITERATURE SURVEY  Papers 1 – 5:</vt:lpstr>
      <vt:lpstr>PowerPoint Presentation</vt:lpstr>
      <vt:lpstr>RESEARCH GAP IDENTIFICATION</vt:lpstr>
      <vt:lpstr>PROPOSED INNOVATION</vt:lpstr>
      <vt:lpstr>FEASIBILITY </vt:lpstr>
      <vt:lpstr>PROJECT PLAN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dev</dc:creator>
  <cp:lastModifiedBy>Satya dev</cp:lastModifiedBy>
  <cp:revision>3</cp:revision>
  <dcterms:created xsi:type="dcterms:W3CDTF">2026-08-12T05:48:30Z</dcterms:created>
  <dcterms:modified xsi:type="dcterms:W3CDTF">2026-08-17T05:06:06Z</dcterms:modified>
</cp:coreProperties>
</file>