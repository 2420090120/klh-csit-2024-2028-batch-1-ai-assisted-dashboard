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6432" cy="6858000"/>
          </a:xfrm>
          <a:prstGeom prst="rect">
            <a:avLst/>
          </a:prstGeom>
          <a:solidFill>
            <a:srgbClr val="20314D"/>
          </a:solidFill>
          <a:ln>
            <a:solidFill>
              <a:srgbClr val="20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253728" y="502920"/>
            <a:ext cx="2331720" cy="5760720"/>
          </a:xfrm>
          <a:prstGeom prst="roundRect">
            <a:avLst>
              <a:gd name="adj" fmla="val 12000"/>
            </a:avLst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582912" y="896112"/>
            <a:ext cx="1664208" cy="4983480"/>
          </a:xfrm>
          <a:prstGeom prst="roundRect">
            <a:avLst>
              <a:gd name="adj" fmla="val 12000"/>
            </a:avLst>
          </a:prstGeom>
          <a:solidFill>
            <a:srgbClr val="20314D"/>
          </a:solidFill>
          <a:ln>
            <a:solidFill>
              <a:srgbClr val="20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1417320"/>
            <a:ext cx="201168" cy="201168"/>
          </a:xfrm>
          <a:prstGeom prst="ellipse">
            <a:avLst/>
          </a:prstGeom>
          <a:solidFill>
            <a:srgbClr val="DAA339"/>
          </a:solidFill>
          <a:ln>
            <a:solidFill>
              <a:srgbClr val="DAA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44200" y="2148840"/>
            <a:ext cx="201168" cy="201168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921240" y="2971800"/>
            <a:ext cx="201168" cy="201168"/>
          </a:xfrm>
          <a:prstGeom prst="ellipse">
            <a:avLst/>
          </a:prstGeom>
          <a:solidFill>
            <a:srgbClr val="1D8482"/>
          </a:solidFill>
          <a:ln>
            <a:solidFill>
              <a:srgbClr val="1D8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08208" y="3794760"/>
            <a:ext cx="201168" cy="201168"/>
          </a:xfrm>
          <a:prstGeom prst="ellipse">
            <a:avLst/>
          </a:prstGeom>
          <a:solidFill>
            <a:srgbClr val="DAA339"/>
          </a:solidFill>
          <a:ln>
            <a:solidFill>
              <a:srgbClr val="DAA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93808" y="4663440"/>
            <a:ext cx="201168" cy="201168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98480" y="5349240"/>
            <a:ext cx="201168" cy="201168"/>
          </a:xfrm>
          <a:prstGeom prst="ellipse">
            <a:avLst/>
          </a:prstGeom>
          <a:solidFill>
            <a:srgbClr val="1D8482"/>
          </a:solidFill>
          <a:ln>
            <a:solidFill>
              <a:srgbClr val="1D8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"/>
            <a:ext cx="71323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AA339"/>
                </a:solidFill>
                <a:latin typeface="Aptos"/>
              </a:rPr>
              <a:t>ENGINEERING CAPSTONE PROJECT  |  A.Y. 2026–2027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143000"/>
            <a:ext cx="73152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ptos"/>
              </a:rPr>
              <a:t>PROJECT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00200"/>
            <a:ext cx="731520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ptos"/>
              </a:rPr>
              <a:t>REVIEW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" y="2514600"/>
            <a:ext cx="960120" cy="64008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88920"/>
            <a:ext cx="7406640" cy="10972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ptos"/>
              </a:rPr>
              <a:t>AI-Assisted Data Visualization for
Business Decision Support Systems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206240"/>
            <a:ext cx="71323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CDD8E6"/>
                </a:solidFill>
                <a:latin typeface="Aptos"/>
              </a:rPr>
              <a:t>Business Analytics &amp; Decision Support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892040"/>
            <a:ext cx="758952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ptos"/>
              </a:rPr>
              <a:t>G. Harshavardhan Reddy  •  Ch. Sai Nikhil Reddy
T. Sai Satwik  •  V. Satya Dev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897880"/>
            <a:ext cx="75895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CDD8E6"/>
                </a:solidFill>
                <a:latin typeface="Aptos"/>
              </a:rPr>
              <a:t>Under the guidance of Dr. Swapnika  |  KLH University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036"/>
                </a:solidFill>
                <a:latin typeface="Aptos"/>
              </a:rPr>
              <a:t>REVIEW 3: PURPOSE AND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685800" cy="50292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53312" y="658368"/>
            <a:ext cx="100584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080"/>
                </a:solidFill>
                <a:latin typeface="Aptos"/>
              </a:rPr>
              <a:t>A results-led review, with earlier reviews condensed into the necessary background.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DCE3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080"/>
                </a:solidFill>
                <a:latin typeface="Aptos"/>
              </a:rPr>
              <a:t>REVIEW 3  |  AI-ASSISTED DATA VISUALIZATION FOR BUSINESS DECISION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2332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234440"/>
            <a:ext cx="64008" cy="1417320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344168"/>
            <a:ext cx="313639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036"/>
                </a:solidFill>
                <a:latin typeface="Aptos"/>
              </a:rPr>
              <a:t>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691640"/>
            <a:ext cx="3136392" cy="8869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52E3B"/>
                </a:solidFill>
                <a:latin typeface="Aptos"/>
              </a:rPr>
              <a:t>Validate data processing and experimental design.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23444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234440"/>
            <a:ext cx="64008" cy="1417320"/>
          </a:xfrm>
          <a:prstGeom prst="rect">
            <a:avLst/>
          </a:prstGeom>
          <a:solidFill>
            <a:srgbClr val="1D8482"/>
          </a:solidFill>
          <a:ln>
            <a:solidFill>
              <a:srgbClr val="1D8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1344168"/>
            <a:ext cx="313639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036"/>
                </a:solidFill>
                <a:latin typeface="Aptos"/>
              </a:rPr>
              <a:t>Model study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1691640"/>
            <a:ext cx="3136392" cy="8869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52E3B"/>
                </a:solidFill>
                <a:latin typeface="Aptos"/>
              </a:rPr>
              <a:t>Relate published methods to baselines and multiple hybrid candidates.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23444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234440"/>
            <a:ext cx="64008" cy="1417320"/>
          </a:xfrm>
          <a:prstGeom prst="rect">
            <a:avLst/>
          </a:prstGeom>
          <a:solidFill>
            <a:srgbClr val="DAA339"/>
          </a:solidFill>
          <a:ln>
            <a:solidFill>
              <a:srgbClr val="DAA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1344168"/>
            <a:ext cx="313639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036"/>
                </a:solidFill>
                <a:latin typeface="Aptos"/>
              </a:rPr>
              <a:t>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1691640"/>
            <a:ext cx="3136392" cy="8869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52E3B"/>
                </a:solidFill>
                <a:latin typeface="Aptos"/>
              </a:rPr>
              <a:t>Show actual saved tables, figures and metrics from project outputs.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15468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154680"/>
            <a:ext cx="64008" cy="1417320"/>
          </a:xfrm>
          <a:prstGeom prst="rect">
            <a:avLst/>
          </a:prstGeom>
          <a:solidFill>
            <a:srgbClr val="142036"/>
          </a:solidFill>
          <a:ln>
            <a:solidFill>
              <a:srgbClr val="14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" y="3264408"/>
            <a:ext cx="313639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036"/>
                </a:solidFill>
                <a:latin typeface="Aptos"/>
              </a:rPr>
              <a:t>Decision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3611880"/>
            <a:ext cx="3136392" cy="8869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52E3B"/>
                </a:solidFill>
                <a:latin typeface="Aptos"/>
              </a:rPr>
              <a:t>Connect prediction, explainability and business findings.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15468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3154680"/>
            <a:ext cx="64008" cy="1417320"/>
          </a:xfrm>
          <a:prstGeom prst="rect">
            <a:avLst/>
          </a:prstGeom>
          <a:solidFill>
            <a:srgbClr val="2C8057"/>
          </a:solidFill>
          <a:ln>
            <a:solidFill>
              <a:srgbClr val="2C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9432" y="3264408"/>
            <a:ext cx="313639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036"/>
                </a:solidFill>
                <a:latin typeface="Aptos"/>
              </a:rPr>
              <a:t>Readiness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2" y="3611880"/>
            <a:ext cx="3136392" cy="8869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52E3B"/>
                </a:solidFill>
                <a:latin typeface="Aptos"/>
              </a:rPr>
              <a:t>Identify what is implemented and what still needs final verification.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394960"/>
            <a:ext cx="105156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42036"/>
                </a:solidFill>
                <a:latin typeface="Aptos"/>
              </a:rPr>
              <a:t>Faculty sequence: literature → baselines → limitations → multiple hybrid candidates → comparison → justified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036"/>
                </a:solidFill>
                <a:latin typeface="Aptos"/>
              </a:rPr>
              <a:t>PROBLEM STATEMENT AND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685800" cy="50292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53312" y="658368"/>
            <a:ext cx="100584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080"/>
                </a:solidFill>
                <a:latin typeface="Aptos"/>
              </a:rPr>
              <a:t>Carry forward the original problem while emphasizing completed implementation.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DCE3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080"/>
                </a:solidFill>
                <a:latin typeface="Aptos"/>
              </a:rPr>
              <a:t>REVIEW 3  |  AI-ASSISTED DATA VISUALIZATION FOR BUSINESS DECISION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2332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188720"/>
            <a:ext cx="525780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188720"/>
            <a:ext cx="64008" cy="1965960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298448"/>
            <a:ext cx="496519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036"/>
                </a:solidFill>
                <a:latin typeface="Aptos"/>
              </a:rP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645920"/>
            <a:ext cx="4965192" cy="14356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52E3B"/>
                </a:solidFill>
                <a:latin typeface="Aptos"/>
              </a:rPr>
              <a:t>Business datasets contain complex interactions between sales, discount, products, geography and profit. Descriptive dashboards alone do not predict outcomes or explain why a model makes a prediction.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25780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64008" cy="1965960"/>
          </a:xfrm>
          <a:prstGeom prst="rect">
            <a:avLst/>
          </a:prstGeom>
          <a:solidFill>
            <a:srgbClr val="1D8482"/>
          </a:solidFill>
          <a:ln>
            <a:solidFill>
              <a:srgbClr val="1D8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298448"/>
            <a:ext cx="496519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036"/>
                </a:solidFill>
                <a:latin typeface="Aptos"/>
              </a:rPr>
              <a:t>Motivation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645920"/>
            <a:ext cx="4965192" cy="14356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52E3B"/>
                </a:solidFill>
                <a:latin typeface="Aptos"/>
              </a:rPr>
              <a:t>A useful business decision-support system should combine data quality checks, predictive modelling, explainability and readable visual outputs in one workflow.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657600"/>
            <a:ext cx="10332720" cy="1828800"/>
          </a:xfrm>
          <a:prstGeom prst="rect">
            <a:avLst/>
          </a:prstGeom>
          <a:noFill/>
        </p:spPr>
        <p:txBody>
          <a:bodyPr wrap="square" lIns="73152" rIns="54864" tIns="54864" bIns="18288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BE2332"/>
                </a:solidFill>
                <a:latin typeface="Aptos"/>
              </a:rPr>
              <a:t>•  </a:t>
            </a:r>
            <a:r>
              <a:rPr sz="1400">
                <a:solidFill>
                  <a:srgbClr val="252E3B"/>
                </a:solidFill>
                <a:latin typeface="Aptos"/>
              </a:rPr>
              <a:t>Support profit prediction on two transaction datasets.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BE2332"/>
                </a:solidFill>
                <a:latin typeface="Aptos"/>
              </a:rPr>
              <a:t>•  </a:t>
            </a:r>
            <a:r>
              <a:rPr sz="1400">
                <a:solidFill>
                  <a:srgbClr val="252E3B"/>
                </a:solidFill>
                <a:latin typeface="Aptos"/>
              </a:rPr>
              <a:t>Explore customer geography on the supplied Olist customer-location file.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BE2332"/>
                </a:solidFill>
                <a:latin typeface="Aptos"/>
              </a:rPr>
              <a:t>•  </a:t>
            </a:r>
            <a:r>
              <a:rPr sz="1400">
                <a:solidFill>
                  <a:srgbClr val="252E3B"/>
                </a:solidFill>
                <a:latin typeface="Aptos"/>
              </a:rPr>
              <a:t>Evaluate multiple model families and hybrid candidates using measurable metrics.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BE2332"/>
                </a:solidFill>
                <a:latin typeface="Aptos"/>
              </a:rPr>
              <a:t>•  </a:t>
            </a:r>
            <a:r>
              <a:rPr sz="1400">
                <a:solidFill>
                  <a:srgbClr val="252E3B"/>
                </a:solidFill>
                <a:latin typeface="Aptos"/>
              </a:rPr>
              <a:t>Translate analysis into dashboard outputs and business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036"/>
                </a:solidFill>
                <a:latin typeface="Aptos"/>
              </a:rPr>
              <a:t>RESEARCH OBJECTIVES AND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685800" cy="50292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DCE3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080"/>
                </a:solidFill>
                <a:latin typeface="Aptos"/>
              </a:rPr>
              <a:t>REVIEW 3  |  AI-ASSISTED DATA VISUALIZATION FOR BUSINESS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2332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521208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64008" cy="3474720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344168"/>
            <a:ext cx="491947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036"/>
                </a:solidFill>
                <a:latin typeface="Aptos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691640"/>
            <a:ext cx="4919472" cy="2944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52E3B"/>
                </a:solidFill>
                <a:latin typeface="Aptos"/>
              </a:rPr>
              <a:t>1. Build repeatable cleaning and EDA workflows.
2. Engineer/select features while avoiding target leakage.
3. Compare regression baselines and hybrid candidates.
4. Evaluate geographic clustering on D3.
5. Explain predictions and expose findings through a dashboard.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234440"/>
            <a:ext cx="521208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234440"/>
            <a:ext cx="64008" cy="3474720"/>
          </a:xfrm>
          <a:prstGeom prst="rect">
            <a:avLst/>
          </a:prstGeom>
          <a:solidFill>
            <a:srgbClr val="1D8482"/>
          </a:solidFill>
          <a:ln>
            <a:solidFill>
              <a:srgbClr val="1D8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344168"/>
            <a:ext cx="491947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036"/>
                </a:solidFill>
                <a:latin typeface="Aptos"/>
              </a:rPr>
              <a:t>Research 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691640"/>
            <a:ext cx="4919472" cy="2944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52E3B"/>
                </a:solidFill>
                <a:latin typeface="Aptos"/>
              </a:rPr>
              <a:t>RQ1: Which baseline performs best for profit prediction?
RQ2: Do tested hybrid combinations improve on the strongest baseline?
RQ3: Which features most influence model predictions?
RQ4: Can the available customer-location data produce interpretable geographic clusters?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036"/>
                </a:solidFill>
                <a:latin typeface="Aptos"/>
              </a:rPr>
              <a:t>PROJECT PROGRESSION: REVIEW 1 → REVIEW 2 → REVIEW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685800" cy="50292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DCE3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080"/>
                </a:solidFill>
                <a:latin typeface="Aptos"/>
              </a:rPr>
              <a:t>REVIEW 3  |  AI-ASSISTED DATA VISUALIZATION FOR BUSINESS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2332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3401568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64008" cy="2468880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618488"/>
            <a:ext cx="3108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036"/>
                </a:solidFill>
                <a:latin typeface="Aptos"/>
              </a:rPr>
              <a:t>REVIEW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965960"/>
            <a:ext cx="3108960" cy="19385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52E3B"/>
                </a:solidFill>
                <a:latin typeface="Aptos"/>
              </a:rPr>
              <a:t>Problem definition, objectives, dataset identification, literature themes and proposed system.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7368" y="2468880"/>
            <a:ext cx="3840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BE2332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07992" y="1508760"/>
            <a:ext cx="3401568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07992" y="1508760"/>
            <a:ext cx="64008" cy="2468880"/>
          </a:xfrm>
          <a:prstGeom prst="rect">
            <a:avLst/>
          </a:prstGeom>
          <a:solidFill>
            <a:srgbClr val="1D8482"/>
          </a:solidFill>
          <a:ln>
            <a:solidFill>
              <a:srgbClr val="1D8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3" y="1618488"/>
            <a:ext cx="3108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036"/>
                </a:solidFill>
                <a:latin typeface="Aptos"/>
              </a:rPr>
              <a:t>REVIEW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3" y="1965960"/>
            <a:ext cx="3108960" cy="19385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52E3B"/>
                </a:solidFill>
                <a:latin typeface="Aptos"/>
              </a:rPr>
              <a:t>Cleaning, EDA, feature engineering, initial baselines, model explanations and dashboard groundwork.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468880"/>
            <a:ext cx="3840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BE2332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30183" y="1508760"/>
            <a:ext cx="3401568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30183" y="1508760"/>
            <a:ext cx="64008" cy="2468880"/>
          </a:xfrm>
          <a:prstGeom prst="rect">
            <a:avLst/>
          </a:prstGeom>
          <a:solidFill>
            <a:srgbClr val="142036"/>
          </a:solidFill>
          <a:ln>
            <a:solidFill>
              <a:srgbClr val="14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94776" y="1618488"/>
            <a:ext cx="3108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036"/>
                </a:solidFill>
                <a:latin typeface="Aptos"/>
              </a:rPr>
              <a:t>REVIEW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94776" y="1965960"/>
            <a:ext cx="3108960" cy="19385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52E3B"/>
                </a:solidFill>
                <a:latin typeface="Aptos"/>
              </a:rPr>
              <a:t>Experimental validation, model/hybrid comparison, output evidence, result interpretation and research-paper alignment.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663440"/>
            <a:ext cx="10424160" cy="658368"/>
          </a:xfrm>
          <a:prstGeom prst="roundRect">
            <a:avLst>
              <a:gd name="adj" fmla="val 12000"/>
            </a:avLst>
          </a:prstGeom>
          <a:solidFill>
            <a:srgbClr val="FBF7EB"/>
          </a:solidFill>
          <a:ln>
            <a:solidFill>
              <a:srgbClr val="FB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837176"/>
            <a:ext cx="100584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42036"/>
                </a:solidFill>
                <a:latin typeface="Aptos"/>
              </a:rPr>
              <a:t>Review 3 is the main story; previous work appears only where it supports the evidence.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036"/>
                </a:solidFill>
                <a:latin typeface="Aptos"/>
              </a:rPr>
              <a:t>SYSTEM ARCHITECTURE AND ANALYTICAL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685800" cy="50292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DCE3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080"/>
                </a:solidFill>
                <a:latin typeface="Aptos"/>
              </a:rPr>
              <a:t>REVIEW 3  |  AI-ASSISTED DATA VISUALIZATION FOR BUSINESS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2332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298448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64008" cy="1463040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938528"/>
            <a:ext cx="1005839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2036"/>
                </a:solidFill>
                <a:latin typeface="Aptos"/>
              </a:rP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286000"/>
            <a:ext cx="1005839" cy="9326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52E3B"/>
                </a:solidFill>
                <a:latin typeface="Aptos"/>
              </a:rPr>
              <a:t>D1, D2, D3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1368" y="2331720"/>
            <a:ext cx="14630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BE2332"/>
                </a:solidFill>
                <a:latin typeface="Aptos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47672" y="1828800"/>
            <a:ext cx="1298448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47672" y="1828800"/>
            <a:ext cx="64008" cy="1463040"/>
          </a:xfrm>
          <a:prstGeom prst="rect">
            <a:avLst/>
          </a:prstGeom>
          <a:solidFill>
            <a:srgbClr val="1D8482"/>
          </a:solidFill>
          <a:ln>
            <a:solidFill>
              <a:srgbClr val="1D8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12264" y="1938528"/>
            <a:ext cx="1005839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2036"/>
                </a:solidFill>
                <a:latin typeface="Aptos"/>
              </a:rPr>
              <a:t>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12264" y="2286000"/>
            <a:ext cx="1005839" cy="9326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52E3B"/>
                </a:solidFill>
                <a:latin typeface="Aptos"/>
              </a:rPr>
              <a:t>types, nulls,
duplicates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331720"/>
            <a:ext cx="14630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BE2332"/>
                </a:solidFill>
                <a:latin typeface="Aptos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2424" y="1828800"/>
            <a:ext cx="1298448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92424" y="1828800"/>
            <a:ext cx="64008" cy="1463040"/>
          </a:xfrm>
          <a:prstGeom prst="rect">
            <a:avLst/>
          </a:prstGeom>
          <a:solidFill>
            <a:srgbClr val="DAA339"/>
          </a:solidFill>
          <a:ln>
            <a:solidFill>
              <a:srgbClr val="DAA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57016" y="1938528"/>
            <a:ext cx="1005839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2036"/>
                </a:solidFill>
                <a:latin typeface="Aptos"/>
              </a:rPr>
              <a:t>EDA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7016" y="2286000"/>
            <a:ext cx="1005839" cy="9326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52E3B"/>
                </a:solidFill>
                <a:latin typeface="Aptos"/>
              </a:rPr>
              <a:t>distributions,
relationships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0872" y="2331720"/>
            <a:ext cx="14630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BE2332"/>
                </a:solidFill>
                <a:latin typeface="Aptos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37176" y="1828800"/>
            <a:ext cx="1298448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7176" y="1828800"/>
            <a:ext cx="64008" cy="1463040"/>
          </a:xfrm>
          <a:prstGeom prst="rect">
            <a:avLst/>
          </a:prstGeom>
          <a:solidFill>
            <a:srgbClr val="142036"/>
          </a:solidFill>
          <a:ln>
            <a:solidFill>
              <a:srgbClr val="14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1768" y="1938528"/>
            <a:ext cx="1005839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2036"/>
                </a:solidFill>
                <a:latin typeface="Aptos"/>
              </a:rPr>
              <a:t>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01768" y="2286000"/>
            <a:ext cx="1005839" cy="9326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52E3B"/>
                </a:solidFill>
                <a:latin typeface="Aptos"/>
              </a:rPr>
              <a:t>engineering +
selection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35624" y="2331720"/>
            <a:ext cx="14630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BE2332"/>
                </a:solidFill>
                <a:latin typeface="Aptos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1928" y="1828800"/>
            <a:ext cx="1298448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81928" y="1828800"/>
            <a:ext cx="64008" cy="1463040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1938528"/>
            <a:ext cx="1005839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2036"/>
                </a:solidFill>
                <a:latin typeface="Aptos"/>
              </a:rPr>
              <a:t>Models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2286000"/>
            <a:ext cx="1005839" cy="9326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52E3B"/>
                </a:solidFill>
                <a:latin typeface="Aptos"/>
              </a:rPr>
              <a:t>regression /
clustering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0375" y="2331720"/>
            <a:ext cx="14630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BE2332"/>
                </a:solidFill>
                <a:latin typeface="Aptos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6680" y="1828800"/>
            <a:ext cx="1298448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26680" y="1828800"/>
            <a:ext cx="64008" cy="1463040"/>
          </a:xfrm>
          <a:prstGeom prst="rect">
            <a:avLst/>
          </a:prstGeom>
          <a:solidFill>
            <a:srgbClr val="1D8482"/>
          </a:solidFill>
          <a:ln>
            <a:solidFill>
              <a:srgbClr val="1D8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91272" y="1938528"/>
            <a:ext cx="1005839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2036"/>
                </a:solidFill>
                <a:latin typeface="Aptos"/>
              </a:rPr>
              <a:t>Evaluation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91272" y="2286000"/>
            <a:ext cx="1005839" cy="9326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52E3B"/>
                </a:solidFill>
                <a:latin typeface="Aptos"/>
              </a:rPr>
              <a:t>metrics +
comparisons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25128" y="2331720"/>
            <a:ext cx="14630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BE2332"/>
                </a:solidFill>
                <a:latin typeface="Aptos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71432" y="1828800"/>
            <a:ext cx="1298448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71432" y="1828800"/>
            <a:ext cx="64008" cy="1463040"/>
          </a:xfrm>
          <a:prstGeom prst="rect">
            <a:avLst/>
          </a:prstGeom>
          <a:solidFill>
            <a:srgbClr val="DAA339"/>
          </a:solidFill>
          <a:ln>
            <a:solidFill>
              <a:srgbClr val="DAA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36024" y="1938528"/>
            <a:ext cx="1005839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2036"/>
                </a:solidFill>
                <a:latin typeface="Aptos"/>
              </a:rPr>
              <a:t>XAI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36024" y="2286000"/>
            <a:ext cx="1005839" cy="9326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52E3B"/>
                </a:solidFill>
                <a:latin typeface="Aptos"/>
              </a:rPr>
              <a:t>importance +
explanations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69880" y="2331720"/>
            <a:ext cx="14630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BE2332"/>
                </a:solidFill>
                <a:latin typeface="Aptos"/>
              </a:rPr>
              <a:t>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616184" y="1828800"/>
            <a:ext cx="1298448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616184" y="1828800"/>
            <a:ext cx="64008" cy="1463040"/>
          </a:xfrm>
          <a:prstGeom prst="rect">
            <a:avLst/>
          </a:prstGeom>
          <a:solidFill>
            <a:srgbClr val="142036"/>
          </a:solidFill>
          <a:ln>
            <a:solidFill>
              <a:srgbClr val="14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780776" y="1938528"/>
            <a:ext cx="1005839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2036"/>
                </a:solidFill>
                <a:latin typeface="Aptos"/>
              </a:rPr>
              <a:t>DSS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0776" y="2286000"/>
            <a:ext cx="1005839" cy="9326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52E3B"/>
                </a:solidFill>
                <a:latin typeface="Aptos"/>
              </a:rPr>
              <a:t>dashboard +
actions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4069080"/>
            <a:ext cx="105156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42036"/>
                </a:solidFill>
                <a:latin typeface="Aptos"/>
              </a:rPr>
              <a:t>D1/D2 use profit as the regression target. D3 uses geographic customer segmentation because transaction-level behaviour is not present in the supplied file.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036"/>
                </a:solidFill>
                <a:latin typeface="Aptos"/>
              </a:rPr>
              <a:t>DATASET OVERVIEW AND TASK ASSIGNMENT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685800" cy="50292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DCE3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080"/>
                </a:solidFill>
                <a:latin typeface="Aptos"/>
              </a:rPr>
              <a:t>REVIEW 3  |  AI-ASSISTED DATA VISUALIZATION FOR BUSINESS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2332"/>
                </a:solidFill>
                <a:latin typeface="Aptos"/>
              </a:rPr>
              <a:t>07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23444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25880"/>
                <a:gridCol w="3246120"/>
                <a:gridCol w="1828800"/>
                <a:gridCol w="2926080"/>
              </a:tblGrid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Dataset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Rows in cleaned file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Key available fields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Task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Constraint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D1 • Superstore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10,194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sales, profit, discount, quantity, category, region, dates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Profit regression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Avoid using profit_margin as predictor.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D2 • Global Superstore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51,290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sales, profit, discount, quantity, market, region, shipping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Profit regression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Different dataset scale and distribution.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D3 • Olist customers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99,441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customer ID, ZIP prefix, city, state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Geographic segmentation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No order/payment/profit tables supplied.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4069080"/>
            <a:ext cx="105156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BE2332"/>
                </a:solidFill>
                <a:latin typeface="Aptos"/>
              </a:rPr>
              <a:t>The D3 task is intentionally limited to geographic segmentation; RFM and profit prediction are not supported by the available file.</a:t>
            </a:r>
          </a:p>
        </p:txBody>
      </p:sp>
      <p:pic>
        <p:nvPicPr>
          <p:cNvPr id="9" name="Picture 8" descr="11_olist_customers_by_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572000"/>
            <a:ext cx="4846320" cy="1417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6007607"/>
            <a:ext cx="4846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080"/>
                </a:solidFill>
                <a:latin typeface="Aptos"/>
              </a:rPr>
              <a:t>D3: customer records by state</a:t>
            </a:r>
          </a:p>
        </p:txBody>
      </p:sp>
      <p:pic>
        <p:nvPicPr>
          <p:cNvPr id="11" name="Picture 10" descr="03_sales_by_reg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4572000"/>
            <a:ext cx="4846320" cy="1417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72200" y="6007607"/>
            <a:ext cx="4846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080"/>
                </a:solidFill>
                <a:latin typeface="Aptos"/>
              </a:rPr>
              <a:t>D1: sales by region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036"/>
                </a:solidFill>
                <a:latin typeface="Aptos"/>
              </a:rPr>
              <a:t>D1 DATA PROFILE: SUPERSTORE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685800" cy="50292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53312" y="658368"/>
            <a:ext cx="100584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080"/>
                </a:solidFill>
                <a:latin typeface="Aptos"/>
              </a:rPr>
              <a:t>Actual output figures from the project's figures folder.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DCE3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080"/>
                </a:solidFill>
                <a:latin typeface="Aptos"/>
              </a:rPr>
              <a:t>REVIEW 3  |  AI-ASSISTED DATA VISUALIZATION FOR BUSINESS DECISION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2332"/>
                </a:solidFill>
                <a:latin typeface="Aptos"/>
              </a:rPr>
              <a:t>08</a:t>
            </a:r>
          </a:p>
        </p:txBody>
      </p:sp>
      <p:pic>
        <p:nvPicPr>
          <p:cNvPr id="8" name="Picture 7" descr="01_sales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5394960" cy="2240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3401568"/>
            <a:ext cx="53949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080"/>
                </a:solidFill>
                <a:latin typeface="Aptos"/>
              </a:rPr>
              <a:t>Sales by category</a:t>
            </a:r>
          </a:p>
        </p:txBody>
      </p:sp>
      <p:pic>
        <p:nvPicPr>
          <p:cNvPr id="10" name="Picture 9" descr="02_profit_by_categ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43000"/>
            <a:ext cx="5394960" cy="2240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3401568"/>
            <a:ext cx="53949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080"/>
                </a:solidFill>
                <a:latin typeface="Aptos"/>
              </a:rPr>
              <a:t>Profit by category</a:t>
            </a:r>
          </a:p>
        </p:txBody>
      </p:sp>
      <p:pic>
        <p:nvPicPr>
          <p:cNvPr id="12" name="Picture 11" descr="04_profit_by_reg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657600"/>
            <a:ext cx="5394960" cy="2240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4360" y="5916168"/>
            <a:ext cx="53949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080"/>
                </a:solidFill>
                <a:latin typeface="Aptos"/>
              </a:rPr>
              <a:t>Profit by region</a:t>
            </a:r>
          </a:p>
        </p:txBody>
      </p:sp>
      <p:pic>
        <p:nvPicPr>
          <p:cNvPr id="14" name="Picture 13" descr="05_yearly_sales_tr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657600"/>
            <a:ext cx="5394960" cy="22402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17920" y="5916168"/>
            <a:ext cx="53949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080"/>
                </a:solidFill>
                <a:latin typeface="Aptos"/>
              </a:rPr>
              <a:t>Yearly sales trend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036"/>
                </a:solidFill>
                <a:latin typeface="Aptos"/>
              </a:rPr>
              <a:t>D1 DISTRIBUTIONS AND RELATIONSHIPS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685800" cy="50292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DCE3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080"/>
                </a:solidFill>
                <a:latin typeface="Aptos"/>
              </a:rPr>
              <a:t>REVIEW 3  |  AI-ASSISTED DATA VISUALIZATION FOR BUSINESS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2332"/>
                </a:solidFill>
                <a:latin typeface="Aptos"/>
              </a:rPr>
              <a:t>09</a:t>
            </a:r>
          </a:p>
        </p:txBody>
      </p:sp>
      <p:pic>
        <p:nvPicPr>
          <p:cNvPr id="7" name="Picture 6" descr="14_superstore_sale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5212080" cy="2103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3355848"/>
            <a:ext cx="52120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080"/>
                </a:solidFill>
                <a:latin typeface="Aptos"/>
              </a:rPr>
              <a:t>Sales distribution</a:t>
            </a:r>
          </a:p>
        </p:txBody>
      </p:sp>
      <p:pic>
        <p:nvPicPr>
          <p:cNvPr id="9" name="Picture 8" descr="15_superstore_profi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34440"/>
            <a:ext cx="5212080" cy="2103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3355848"/>
            <a:ext cx="52120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080"/>
                </a:solidFill>
                <a:latin typeface="Aptos"/>
              </a:rPr>
              <a:t>Profit distribution</a:t>
            </a:r>
          </a:p>
        </p:txBody>
      </p:sp>
      <p:pic>
        <p:nvPicPr>
          <p:cNvPr id="11" name="Picture 10" descr="16_superstore_sales_vs_prof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611880"/>
            <a:ext cx="7498079" cy="2331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86000" y="5961888"/>
            <a:ext cx="7498079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080"/>
                </a:solidFill>
                <a:latin typeface="Aptos"/>
              </a:rPr>
              <a:t>Sales versus profit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080760"/>
            <a:ext cx="10515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47080"/>
                </a:solidFill>
                <a:latin typeface="Aptos"/>
              </a:rPr>
              <a:t>Interpretation: inspect skew, outliers and the relationship between sales and profit before model selection.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036"/>
                </a:solidFill>
                <a:latin typeface="Aptos"/>
              </a:rPr>
              <a:t>D1 CORRELATION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685800" cy="50292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DCE3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080"/>
                </a:solidFill>
                <a:latin typeface="Aptos"/>
              </a:rPr>
              <a:t>REVIEW 3  |  AI-ASSISTED DATA VISUALIZATION FOR BUSINESS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2332"/>
                </a:solidFill>
                <a:latin typeface="Aptos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371600"/>
          <a:ext cx="557784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60120"/>
                <a:gridCol w="960120"/>
                <a:gridCol w="960120"/>
                <a:gridCol w="1051560"/>
              </a:tblGrid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Variable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sales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profit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quantity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discount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sales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1.000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0.481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0.198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-0.028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profit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0.481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1.000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0.066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-0.219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quantity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0.198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0.066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1.000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0.007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discount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-0.028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-0.219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0.007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1.000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720840" y="1417320"/>
            <a:ext cx="44805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0840" y="1417320"/>
            <a:ext cx="64008" cy="1280160"/>
          </a:xfrm>
          <a:prstGeom prst="rect">
            <a:avLst/>
          </a:prstGeom>
          <a:solidFill>
            <a:srgbClr val="1D8482"/>
          </a:solidFill>
          <a:ln>
            <a:solidFill>
              <a:srgbClr val="1D8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85431" y="1527048"/>
            <a:ext cx="418795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036"/>
                </a:solidFill>
                <a:latin typeface="Aptos"/>
              </a:rPr>
              <a:t>Sales–profit correlation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85431" y="1874519"/>
            <a:ext cx="4187952" cy="7498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52E3B"/>
                </a:solidFill>
                <a:latin typeface="Aptos"/>
              </a:rPr>
              <a:t>The saved correlation matrix reports approximately 0.481 between sales and profit.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2926080"/>
            <a:ext cx="44805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20840" y="2926080"/>
            <a:ext cx="64008" cy="1280160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85431" y="3035808"/>
            <a:ext cx="418795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036"/>
                </a:solidFill>
                <a:latin typeface="Aptos"/>
              </a:rPr>
              <a:t>Discount–profit correlation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5431" y="3383280"/>
            <a:ext cx="4187952" cy="7498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52E3B"/>
                </a:solidFill>
                <a:latin typeface="Aptos"/>
              </a:rPr>
              <a:t>The saved matrix reports approximately −0.218 between discount and profit.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1033272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647080"/>
                </a:solidFill>
                <a:latin typeface="Aptos"/>
              </a:rPr>
              <a:t>Correlation is descriptive association; it does not establish causation and does not capture all nonlinear relationships.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036"/>
                </a:solidFill>
                <a:latin typeface="Aptos"/>
              </a:rPr>
              <a:t>D2 DATA PROFILE: GLOBAL SUPERSTORE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685800" cy="50292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DCE3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080"/>
                </a:solidFill>
                <a:latin typeface="Aptos"/>
              </a:rPr>
              <a:t>REVIEW 3  |  AI-ASSISTED DATA VISUALIZATION FOR BUSINESS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2332"/>
                </a:solidFill>
                <a:latin typeface="Aptos"/>
              </a:rPr>
              <a:t>11</a:t>
            </a:r>
          </a:p>
        </p:txBody>
      </p:sp>
      <p:pic>
        <p:nvPicPr>
          <p:cNvPr id="7" name="Picture 6" descr="06_global_sales_by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0"/>
            <a:ext cx="5394960" cy="2194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3401568"/>
            <a:ext cx="53949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080"/>
                </a:solidFill>
                <a:latin typeface="Aptos"/>
              </a:rPr>
              <a:t>Sales by market</a:t>
            </a:r>
          </a:p>
        </p:txBody>
      </p:sp>
      <p:pic>
        <p:nvPicPr>
          <p:cNvPr id="9" name="Picture 8" descr="07_global_profit_by_mar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394960" cy="2194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3401568"/>
            <a:ext cx="53949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080"/>
                </a:solidFill>
                <a:latin typeface="Aptos"/>
              </a:rPr>
              <a:t>Profit by market</a:t>
            </a:r>
          </a:p>
        </p:txBody>
      </p:sp>
      <p:pic>
        <p:nvPicPr>
          <p:cNvPr id="11" name="Picture 10" descr="08_global_sales_by_categ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657600"/>
            <a:ext cx="5394960" cy="2194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5870448"/>
            <a:ext cx="53949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080"/>
                </a:solidFill>
                <a:latin typeface="Aptos"/>
              </a:rPr>
              <a:t>Sales by category</a:t>
            </a:r>
          </a:p>
        </p:txBody>
      </p:sp>
      <p:pic>
        <p:nvPicPr>
          <p:cNvPr id="13" name="Picture 12" descr="09_global_profit_by_catego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657600"/>
            <a:ext cx="5394960" cy="21945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17920" y="5870448"/>
            <a:ext cx="53949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080"/>
                </a:solidFill>
                <a:latin typeface="Aptos"/>
              </a:rPr>
              <a:t>Profit by category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036"/>
                </a:solidFill>
                <a:latin typeface="Aptos"/>
              </a:rPr>
              <a:t>D2 DISTRIBUTIONS AND TIME TREND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685800" cy="50292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DCE3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080"/>
                </a:solidFill>
                <a:latin typeface="Aptos"/>
              </a:rPr>
              <a:t>REVIEW 3  |  AI-ASSISTED DATA VISUALIZATION FOR BUSINESS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2332"/>
                </a:solidFill>
                <a:latin typeface="Aptos"/>
              </a:rPr>
              <a:t>12</a:t>
            </a:r>
          </a:p>
        </p:txBody>
      </p:sp>
      <p:pic>
        <p:nvPicPr>
          <p:cNvPr id="7" name="Picture 6" descr="17_global_sale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5349240" cy="2148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3447288"/>
            <a:ext cx="53492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080"/>
                </a:solidFill>
                <a:latin typeface="Aptos"/>
              </a:rPr>
              <a:t>Global sales distribution</a:t>
            </a:r>
          </a:p>
        </p:txBody>
      </p:sp>
      <p:pic>
        <p:nvPicPr>
          <p:cNvPr id="9" name="Picture 8" descr="18_global_sales_vs_pro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80160"/>
            <a:ext cx="5349240" cy="2148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72200" y="3447288"/>
            <a:ext cx="53492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080"/>
                </a:solidFill>
                <a:latin typeface="Aptos"/>
              </a:rPr>
              <a:t>Global sales versus profit</a:t>
            </a:r>
          </a:p>
        </p:txBody>
      </p:sp>
      <p:pic>
        <p:nvPicPr>
          <p:cNvPr id="11" name="Picture 10" descr="10_global_yearly_sa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3703320"/>
            <a:ext cx="7955279" cy="2148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148840" y="5870448"/>
            <a:ext cx="7955279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080"/>
                </a:solidFill>
                <a:latin typeface="Aptos"/>
              </a:rPr>
              <a:t>Global yearly sales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036"/>
                </a:solidFill>
                <a:latin typeface="Aptos"/>
              </a:rPr>
              <a:t>D2 CORRELATION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685800" cy="50292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DCE3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080"/>
                </a:solidFill>
                <a:latin typeface="Aptos"/>
              </a:rPr>
              <a:t>REVIEW 3  |  AI-ASSISTED DATA VISUALIZATION FOR BUSINESS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2332"/>
                </a:solidFill>
                <a:latin typeface="Aptos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676656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05840"/>
                <a:gridCol w="914400"/>
                <a:gridCol w="914400"/>
                <a:gridCol w="1005840"/>
                <a:gridCol w="1097280"/>
              </a:tblGrid>
              <a:tr h="4953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Variable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sales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profit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quantity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discount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shipping_cost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sales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1.000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0.485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0.314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-0.087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0.768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profit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0.485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1.000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0.104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-0.316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0.354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quantity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0.314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0.104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1.000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-0.020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0.273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discount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-0.087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-0.316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-0.020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1.000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-0.079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shipping_cost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0.768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0.354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0.273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-0.079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1.000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903720" y="1417320"/>
            <a:ext cx="42976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03720" y="1417320"/>
            <a:ext cx="64008" cy="1234440"/>
          </a:xfrm>
          <a:prstGeom prst="rect">
            <a:avLst/>
          </a:prstGeom>
          <a:solidFill>
            <a:srgbClr val="1D8482"/>
          </a:solidFill>
          <a:ln>
            <a:solidFill>
              <a:srgbClr val="1D8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68312" y="1527048"/>
            <a:ext cx="400507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036"/>
                </a:solidFill>
                <a:latin typeface="Aptos"/>
              </a:rPr>
              <a:t>Sales–profit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8312" y="1874519"/>
            <a:ext cx="4005072" cy="7040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52E3B"/>
                </a:solidFill>
                <a:latin typeface="Aptos"/>
              </a:rPr>
              <a:t>Saved correlation: approximately 0.485.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2880360"/>
            <a:ext cx="42976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03720" y="2880360"/>
            <a:ext cx="64008" cy="1234440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68312" y="2990088"/>
            <a:ext cx="400507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036"/>
                </a:solidFill>
                <a:latin typeface="Aptos"/>
              </a:rPr>
              <a:t>Discount–profit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68312" y="3337560"/>
            <a:ext cx="4005072" cy="7040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52E3B"/>
                </a:solidFill>
                <a:latin typeface="Aptos"/>
              </a:rPr>
              <a:t>Saved correlation: approximately −0.316.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1051560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42036"/>
                </a:solidFill>
                <a:latin typeface="Aptos"/>
              </a:rPr>
              <a:t>The D2 discount–profit association is more negative than in D1 in the saved matrices; this is descriptive, not causal.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036"/>
                </a:solidFill>
                <a:latin typeface="Aptos"/>
              </a:rPr>
              <a:t>D3 CUSTOMER-GEOGRAPHIC PROFILE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685800" cy="50292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DCE3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080"/>
                </a:solidFill>
                <a:latin typeface="Aptos"/>
              </a:rPr>
              <a:t>REVIEW 3  |  AI-ASSISTED DATA VISUALIZATION FOR BUSINESS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2332"/>
                </a:solidFill>
                <a:latin typeface="Aptos"/>
              </a:rPr>
              <a:t>14</a:t>
            </a:r>
          </a:p>
        </p:txBody>
      </p:sp>
      <p:pic>
        <p:nvPicPr>
          <p:cNvPr id="7" name="Picture 6" descr="11_olist_customers_by_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5303520" cy="2240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3493008"/>
            <a:ext cx="53035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080"/>
                </a:solidFill>
                <a:latin typeface="Aptos"/>
              </a:rPr>
              <a:t>Customers by state</a:t>
            </a:r>
          </a:p>
        </p:txBody>
      </p:sp>
      <p:pic>
        <p:nvPicPr>
          <p:cNvPr id="9" name="Picture 8" descr="12_olist_customers_by_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34440"/>
            <a:ext cx="5303520" cy="2240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72200" y="3493008"/>
            <a:ext cx="53035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080"/>
                </a:solidFill>
                <a:latin typeface="Aptos"/>
              </a:rPr>
              <a:t>Customers by city</a:t>
            </a:r>
          </a:p>
        </p:txBody>
      </p:sp>
      <p:pic>
        <p:nvPicPr>
          <p:cNvPr id="11" name="Picture 10" descr="13_olist_customer_record_frequen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120" y="3703320"/>
            <a:ext cx="7955279" cy="2057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103120" y="5779007"/>
            <a:ext cx="7955279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080"/>
                </a:solidFill>
                <a:latin typeface="Aptos"/>
              </a:rPr>
              <a:t>Customer record frequency/profile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BE2332"/>
                </a:solidFill>
                <a:latin typeface="Aptos"/>
              </a:rPr>
              <a:t>Only customer location fields are available in this project dataset; customer behaviour cannot be inferred from these fields alone.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036"/>
                </a:solidFill>
                <a:latin typeface="Aptos"/>
              </a:rPr>
              <a:t>PREPROCESSING AND FEATURE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685800" cy="50292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DCE3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080"/>
                </a:solidFill>
                <a:latin typeface="Aptos"/>
              </a:rPr>
              <a:t>REVIEW 3  |  AI-ASSISTED DATA VISUALIZATION FOR BUSINESS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2332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3474720" cy="2560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64008" cy="2560320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344168"/>
            <a:ext cx="318211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036"/>
                </a:solidFill>
                <a:latin typeface="Aptos"/>
              </a:rPr>
              <a:t>Quality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691640"/>
            <a:ext cx="3182112" cy="202996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52E3B"/>
                </a:solidFill>
                <a:latin typeface="Aptos"/>
              </a:rPr>
              <a:t>• Inspect schema and data types
• Handle missing target values
• Identify duplicates/outliers
• Standardize column names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34440"/>
            <a:ext cx="3474720" cy="2560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234440"/>
            <a:ext cx="64008" cy="2560320"/>
          </a:xfrm>
          <a:prstGeom prst="rect">
            <a:avLst/>
          </a:prstGeom>
          <a:solidFill>
            <a:srgbClr val="1D8482"/>
          </a:solidFill>
          <a:ln>
            <a:solidFill>
              <a:srgbClr val="1D8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344168"/>
            <a:ext cx="318211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036"/>
                </a:solidFill>
                <a:latin typeface="Aptos"/>
              </a:rPr>
              <a:t>Engineered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691640"/>
            <a:ext cx="3182112" cy="202996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52E3B"/>
                </a:solidFill>
                <a:latin typeface="Aptos"/>
              </a:rPr>
              <a:t>• shipping_days
• order_year
• order_month
• profit_margin for analysis only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234440"/>
            <a:ext cx="3474720" cy="2560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234440"/>
            <a:ext cx="64008" cy="2560320"/>
          </a:xfrm>
          <a:prstGeom prst="rect">
            <a:avLst/>
          </a:prstGeom>
          <a:solidFill>
            <a:srgbClr val="DAA339"/>
          </a:solidFill>
          <a:ln>
            <a:solidFill>
              <a:srgbClr val="DAA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1" y="1344168"/>
            <a:ext cx="318211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036"/>
                </a:solidFill>
                <a:latin typeface="Aptos"/>
              </a:rPr>
              <a:t>Model preparation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1691640"/>
            <a:ext cx="3182112" cy="202996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52E3B"/>
                </a:solidFill>
                <a:latin typeface="Aptos"/>
              </a:rPr>
              <a:t>• Numeric imputation
• Categorical encoding
• Scale geographic features for clustering
• Separate train/validation/test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89120"/>
            <a:ext cx="10424160" cy="685800"/>
          </a:xfrm>
          <a:prstGeom prst="roundRect">
            <a:avLst>
              <a:gd name="adj" fmla="val 12000"/>
            </a:avLst>
          </a:prstGeom>
          <a:solidFill>
            <a:srgbClr val="FCEEF0"/>
          </a:solidFill>
          <a:ln>
            <a:solidFill>
              <a:srgbClr val="FC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590288"/>
            <a:ext cx="10058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BE2332"/>
                </a:solidFill>
                <a:latin typeface="Aptos"/>
              </a:rPr>
              <a:t>Leakage safeguard: profit_margin is derived from profit and is excluded from profit prediction features.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036"/>
                </a:solidFill>
                <a:latin typeface="Aptos"/>
              </a:rPr>
              <a:t>FEATURE SELECTION: MUTUAL INFORMATION + RANDOM FOREST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685800" cy="50292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DCE3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080"/>
                </a:solidFill>
                <a:latin typeface="Aptos"/>
              </a:rPr>
              <a:t>REVIEW 3  |  AI-ASSISTED DATA VISUALIZATION FOR BUSINESS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2332"/>
                </a:solidFill>
                <a:latin typeface="Aptos"/>
              </a:rPr>
              <a:t>16</a:t>
            </a:r>
          </a:p>
        </p:txBody>
      </p:sp>
      <p:pic>
        <p:nvPicPr>
          <p:cNvPr id="7" name="Picture 6" descr="21_feature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5669280" cy="3383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4590288"/>
            <a:ext cx="56692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080"/>
                </a:solidFill>
                <a:latin typeface="Aptos"/>
              </a:rPr>
              <a:t>Saved feature-selection visualization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92240" y="1325880"/>
          <a:ext cx="48920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508760"/>
                <a:gridCol w="914400"/>
                <a:gridCol w="1097280"/>
                <a:gridCol w="822960"/>
              </a:tblGrid>
              <a:tr h="3556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Rank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Feature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MI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RF importance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Combined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sales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2.053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0.616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1.000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discount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0.482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0.207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0.285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subcategory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0.776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0.056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0.234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stateprovince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0.292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0.035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0.099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category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0.361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0.012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0.097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quantity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0.356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0.010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0.095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region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0.078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0.016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0.032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order_month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0.030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0.015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0.020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4983480"/>
            <a:ext cx="104241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42036"/>
                </a:solidFill>
                <a:latin typeface="Aptos"/>
              </a:rPr>
              <a:t>Selected D1 predictors: sales, discount, subcategory, state/province, category, quantity, region and order_month.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036"/>
                </a:solidFill>
                <a:latin typeface="Aptos"/>
              </a:rPr>
              <a:t>INITIAL BASELINE MODEL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685800" cy="50292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53312" y="658368"/>
            <a:ext cx="100584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080"/>
                </a:solidFill>
                <a:latin typeface="Aptos"/>
              </a:rPr>
              <a:t>Earlier baseline results saved in model_metrics/model_comparison.csv.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DCE3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080"/>
                </a:solidFill>
                <a:latin typeface="Aptos"/>
              </a:rPr>
              <a:t>REVIEW 3  |  AI-ASSISTED DATA VISUALIZATION FOR BUSINESS DECISION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2332"/>
                </a:solidFill>
                <a:latin typeface="Aptos"/>
              </a:rPr>
              <a:t>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1371600"/>
          <a:ext cx="56692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97280"/>
                <a:gridCol w="1188720"/>
                <a:gridCol w="1005840"/>
              </a:tblGrid>
              <a:tr h="4876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MAE ↓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RMSE ↓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R² ↑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Linear Regression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62.30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214.96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0.485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21.10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144.13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0.768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23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34440"/>
            <a:ext cx="4389120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0" y="3538728"/>
            <a:ext cx="43891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080"/>
                </a:solidFill>
                <a:latin typeface="Aptos"/>
              </a:rPr>
              <a:t>Saved baseline comparison plot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429000"/>
            <a:ext cx="484632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429000"/>
            <a:ext cx="64008" cy="1463040"/>
          </a:xfrm>
          <a:prstGeom prst="rect">
            <a:avLst/>
          </a:prstGeom>
          <a:solidFill>
            <a:srgbClr val="1D8482"/>
          </a:solidFill>
          <a:ln>
            <a:solidFill>
              <a:srgbClr val="1D8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538728"/>
            <a:ext cx="455371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036"/>
                </a:solidFill>
                <a:latin typeface="Aptos"/>
              </a:rPr>
              <a:t>Observation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886200"/>
            <a:ext cx="4553712" cy="9326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52E3B"/>
                </a:solidFill>
                <a:latin typeface="Aptos"/>
              </a:rPr>
              <a:t>Random Forest reduced MAE substantially compared with Linear Regression in this initial run.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429000"/>
            <a:ext cx="484632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429000"/>
            <a:ext cx="64008" cy="1463040"/>
          </a:xfrm>
          <a:prstGeom prst="rect">
            <a:avLst/>
          </a:prstGeom>
          <a:solidFill>
            <a:srgbClr val="DAA339"/>
          </a:solidFill>
          <a:ln>
            <a:solidFill>
              <a:srgbClr val="DAA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538728"/>
            <a:ext cx="455371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036"/>
                </a:solidFill>
                <a:latin typeface="Aptos"/>
              </a:rPr>
              <a:t>Caution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3886200"/>
            <a:ext cx="4553712" cy="9326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52E3B"/>
                </a:solidFill>
                <a:latin typeface="Aptos"/>
              </a:rPr>
              <a:t>These initial results are from an earlier experiment and should not be mixed with later split-specific comparisons without noting the experiment setup.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036"/>
                </a:solidFill>
                <a:latin typeface="Aptos"/>
              </a:rPr>
              <a:t>LITERATURE REVIEW: MODEL FORMATION AND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685800" cy="50292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53312" y="658368"/>
            <a:ext cx="100584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080"/>
                </a:solidFill>
                <a:latin typeface="Aptos"/>
              </a:rPr>
              <a:t>Faculty requirement: explain how each study formed its model, what it compared, and its limitations.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DCE3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080"/>
                </a:solidFill>
                <a:latin typeface="Aptos"/>
              </a:rPr>
              <a:t>REVIEW 3  |  AI-ASSISTED DATA VISUALIZATION FOR BUSINESS DECISION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2332"/>
                </a:solidFill>
                <a:latin typeface="Aptos"/>
              </a:rPr>
              <a:t>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18872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Study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 formation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Comparison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Limitation / relevance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Lessmann et al. (2021)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Profit-oriented customer targeting; ensemble learning framework across 25 marketing datasets.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Compares ensemble decision-support approaches.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Different target/task; informs business-aware model evaluation.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Retail firm performance (2023)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Regression and ML approaches for retail-firm performance/profitability.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Compares multiple model families.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Different data granularity and target context.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Multi-channel retail forecasting (2022)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RF–XGBoost–Linear Regression hybrid.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Hybrid against standalone forecasting models.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Demand forecasting, not transaction-level profit.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Retail demand prediction (2023)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Tree ensembles compared with LSTM.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Model-family comparison for retail demand.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Temporal demand task differs from profit prediction.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RF + Gradient Boosting hybrid (2026)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Voting/averaging and stacking variants in regression.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Compares combination mechanisms.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Different domain; simple RF+GB combinations are not novel by themselves.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5532120"/>
            <a:ext cx="1060704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BE2332"/>
                </a:solidFill>
                <a:latin typeface="Aptos"/>
              </a:rPr>
              <a:t>Key takeaway: hybrid novelty must come from a verified method contribution—not merely naming a combination of familiar models.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036"/>
                </a:solidFill>
                <a:latin typeface="Aptos"/>
              </a:rPr>
              <a:t>RESEARCH GAP AND PROJECT-SPECIFIC CONTRIBUTION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685800" cy="50292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DCE3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080"/>
                </a:solidFill>
                <a:latin typeface="Aptos"/>
              </a:rPr>
              <a:t>REVIEW 3  |  AI-ASSISTED DATA VISUALIZATION FOR BUSINESS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2332"/>
                </a:solidFill>
                <a:latin typeface="Aptos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64008" cy="1417320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389888"/>
            <a:ext cx="491947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036"/>
                </a:solidFill>
                <a:latin typeface="Aptos"/>
              </a:rPr>
              <a:t>Integration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737360"/>
            <a:ext cx="4919472" cy="8869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52E3B"/>
                </a:solidFill>
                <a:latin typeface="Aptos"/>
              </a:rPr>
              <a:t>Bring cleaning, prediction, explainability and dashboard decision support into one reproducible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280160"/>
            <a:ext cx="521208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1280160"/>
            <a:ext cx="64008" cy="1417320"/>
          </a:xfrm>
          <a:prstGeom prst="rect">
            <a:avLst/>
          </a:prstGeom>
          <a:solidFill>
            <a:srgbClr val="1D8482"/>
          </a:solidFill>
          <a:ln>
            <a:solidFill>
              <a:srgbClr val="1D8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1" y="1389888"/>
            <a:ext cx="491947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036"/>
                </a:solidFill>
                <a:latin typeface="Aptos"/>
              </a:rPr>
              <a:t>Evaluation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1" y="1737360"/>
            <a:ext cx="4919472" cy="8869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52E3B"/>
                </a:solidFill>
                <a:latin typeface="Aptos"/>
              </a:rPr>
              <a:t>Compare multiple baseline and hybrid candidates on consistent data partitions.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08960"/>
            <a:ext cx="521208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108960"/>
            <a:ext cx="64008" cy="1417320"/>
          </a:xfrm>
          <a:prstGeom prst="rect">
            <a:avLst/>
          </a:prstGeom>
          <a:solidFill>
            <a:srgbClr val="DAA339"/>
          </a:solidFill>
          <a:ln>
            <a:solidFill>
              <a:srgbClr val="DAA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218688"/>
            <a:ext cx="491947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036"/>
                </a:solidFill>
                <a:latin typeface="Aptos"/>
              </a:rPr>
              <a:t>Selection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566160"/>
            <a:ext cx="4919472" cy="8869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52E3B"/>
                </a:solidFill>
                <a:latin typeface="Aptos"/>
              </a:rPr>
              <a:t>Use validation results to choose combinations and report held-out test results.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3108960"/>
            <a:ext cx="521208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3108960"/>
            <a:ext cx="64008" cy="1417320"/>
          </a:xfrm>
          <a:prstGeom prst="rect">
            <a:avLst/>
          </a:prstGeom>
          <a:solidFill>
            <a:srgbClr val="142036"/>
          </a:solidFill>
          <a:ln>
            <a:solidFill>
              <a:srgbClr val="14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1" y="3218688"/>
            <a:ext cx="491947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036"/>
                </a:solidFill>
                <a:latin typeface="Aptos"/>
              </a:rPr>
              <a:t>Interpretability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1" y="3566160"/>
            <a:ext cx="4919472" cy="8869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52E3B"/>
                </a:solidFill>
                <a:latin typeface="Aptos"/>
              </a:rPr>
              <a:t>Connect feature importance and descriptive findings to business questions.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5257800"/>
            <a:ext cx="10424160" cy="594360"/>
          </a:xfrm>
          <a:prstGeom prst="roundRect">
            <a:avLst>
              <a:gd name="adj" fmla="val 12000"/>
            </a:avLst>
          </a:prstGeom>
          <a:solidFill>
            <a:srgbClr val="FBF7EB"/>
          </a:solidFill>
          <a:ln>
            <a:solidFill>
              <a:srgbClr val="FB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422392"/>
            <a:ext cx="10058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42036"/>
                </a:solidFill>
                <a:latin typeface="Aptos"/>
              </a:rPr>
              <a:t>Contribution claim remains provisional until final literature novelty verification is complete.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036"/>
                </a:solidFill>
                <a:latin typeface="Aptos"/>
              </a:rPr>
              <a:t>EXPERIMENTAL DESIGN AND EVALUATION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685800" cy="50292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DCE3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080"/>
                </a:solidFill>
                <a:latin typeface="Aptos"/>
              </a:rPr>
              <a:t>REVIEW 3  |  AI-ASSISTED DATA VISUALIZATION FOR BUSINESS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2332"/>
                </a:solidFill>
                <a:latin typeface="Aptos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3474720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64008" cy="3337560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344168"/>
            <a:ext cx="318211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036"/>
                </a:solidFill>
                <a:latin typeface="Aptos"/>
              </a:rPr>
              <a:t>Baselines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691640"/>
            <a:ext cx="3182112" cy="28072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52E3B"/>
                </a:solidFill>
                <a:latin typeface="Aptos"/>
              </a:rPr>
              <a:t>• Naive mean predictor
• Ridge Regression
• Random Forest
• Gradient Boosting
• Random Forest on selected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34440"/>
            <a:ext cx="3474720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234440"/>
            <a:ext cx="64008" cy="3337560"/>
          </a:xfrm>
          <a:prstGeom prst="rect">
            <a:avLst/>
          </a:prstGeom>
          <a:solidFill>
            <a:srgbClr val="1D8482"/>
          </a:solidFill>
          <a:ln>
            <a:solidFill>
              <a:srgbClr val="1D8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344168"/>
            <a:ext cx="318211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036"/>
                </a:solidFill>
                <a:latin typeface="Aptos"/>
              </a:rPr>
              <a:t>Hybrid candidates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691640"/>
            <a:ext cx="3182112" cy="28072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52E3B"/>
                </a:solidFill>
                <a:latin typeface="Aptos"/>
              </a:rPr>
              <a:t>• RF + GB blend
• Ridge + RF / Ridge + GB blends
• GB + Ridge residual correction
• Three-model ensemble
• Validation-optimized ensemble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234440"/>
            <a:ext cx="3474720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234440"/>
            <a:ext cx="64008" cy="3337560"/>
          </a:xfrm>
          <a:prstGeom prst="rect">
            <a:avLst/>
          </a:prstGeom>
          <a:solidFill>
            <a:srgbClr val="DAA339"/>
          </a:solidFill>
          <a:ln>
            <a:solidFill>
              <a:srgbClr val="DAA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1" y="1344168"/>
            <a:ext cx="318211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036"/>
                </a:solidFill>
                <a:latin typeface="Aptos"/>
              </a:rPr>
              <a:t>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1691640"/>
            <a:ext cx="3182112" cy="28072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52E3B"/>
                </a:solidFill>
                <a:latin typeface="Aptos"/>
              </a:rPr>
              <a:t>• MAE — typical absolute error
• RMSE — penalizes large errors
• MAPE / sMAPE — percentage error
• R² — explained variance
• Average rank — summary, not significance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029200"/>
            <a:ext cx="1042416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42036"/>
                </a:solidFill>
                <a:latin typeface="Aptos"/>
              </a:rPr>
              <a:t>Model selection must use validation data; the held-out test set is for final reporting.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036"/>
                </a:solidFill>
                <a:latin typeface="Aptos"/>
              </a:rPr>
              <a:t>D1 RESULTS: COMPARATIVE PROFIT REGRESSION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685800" cy="50292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53312" y="658368"/>
            <a:ext cx="100584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080"/>
                </a:solidFill>
                <a:latin typeface="Aptos"/>
              </a:rPr>
              <a:t>Values transcribed from results/d1_comparative_model_results.csv.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DCE3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080"/>
                </a:solidFill>
                <a:latin typeface="Aptos"/>
              </a:rPr>
              <a:t>REVIEW 3  |  AI-ASSISTED DATA VISUALIZATION FOR BUSINESS DECISION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2332"/>
                </a:solidFill>
                <a:latin typeface="Aptos"/>
              </a:rPr>
              <a:t>21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143000"/>
          <a:ext cx="10744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234440"/>
                <a:gridCol w="1371600"/>
                <a:gridCol w="1463040"/>
                <a:gridCol w="1005840"/>
                <a:gridCol w="155448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MAE ↓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RMSE ↓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sMAPE ↓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R² ↑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Avg rank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Gradient Boosting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21.70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93.73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53.52%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0.837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1.40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Hybrid 1 - RF + GB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24.50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102.28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57.05%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0.806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2.40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Hybrid 6 - GB + Ridge Residual Correction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27.42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92.70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85.42%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0.840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3.40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Random Forest - Selected Features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30.62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130.49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61.91%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0.684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4.90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Hybrid 5 - Validation Optimized Ensemble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30.62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130.49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61.91%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0.684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4.90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Hybrid 4 - RF + GB + Ridge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33.12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113.74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90.63%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0.760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5.60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Hybrid 3 - Ridge + GB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36.83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114.47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100.66%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0.757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6.60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38.32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147.05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78.13%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0.599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7.20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5486400"/>
            <a:ext cx="106070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BE2332"/>
                </a:solidFill>
                <a:latin typeface="Aptos"/>
              </a:rPr>
              <a:t>In this saved comparison, Gradient Boosting is the strongest overall baseline; the RF+GB hybrid is the best genuine hybrid by average rank.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036"/>
                </a:solidFill>
                <a:latin typeface="Aptos"/>
              </a:rPr>
              <a:t>D1 RESULTS: MODEL COMPARISON VISUALS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685800" cy="50292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DCE3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080"/>
                </a:solidFill>
                <a:latin typeface="Aptos"/>
              </a:rPr>
              <a:t>REVIEW 3  |  AI-ASSISTED DATA VISUALIZATION FOR BUSINESS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2332"/>
                </a:solidFill>
                <a:latin typeface="Aptos"/>
              </a:rPr>
              <a:t>22</a:t>
            </a:r>
          </a:p>
        </p:txBody>
      </p:sp>
      <p:pic>
        <p:nvPicPr>
          <p:cNvPr id="7" name="Picture 6" descr="31_d1_comparativ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440680" cy="2240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3401568"/>
            <a:ext cx="54406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080"/>
                </a:solidFill>
                <a:latin typeface="Aptos"/>
              </a:rPr>
              <a:t>D1 comparative metrics</a:t>
            </a:r>
          </a:p>
        </p:txBody>
      </p:sp>
      <p:pic>
        <p:nvPicPr>
          <p:cNvPr id="9" name="Picture 8" descr="32_d1_hybrid_candidat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43000"/>
            <a:ext cx="5349240" cy="2240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3401568"/>
            <a:ext cx="53492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080"/>
                </a:solidFill>
                <a:latin typeface="Aptos"/>
              </a:rPr>
              <a:t>D1 hybrid candidate comparison</a:t>
            </a:r>
          </a:p>
        </p:txBody>
      </p:sp>
      <p:pic>
        <p:nvPicPr>
          <p:cNvPr id="11" name="Picture 10" descr="33_d1_model_r2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3657600"/>
            <a:ext cx="7909560" cy="2148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148840" y="5824727"/>
            <a:ext cx="79095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080"/>
                </a:solidFill>
                <a:latin typeface="Aptos"/>
              </a:rPr>
              <a:t>D1 R² comparison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036"/>
                </a:solidFill>
                <a:latin typeface="Aptos"/>
              </a:rPr>
              <a:t>D1 RESULTS: PREDICTION FIT AND ERROR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685800" cy="50292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DCE3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080"/>
                </a:solidFill>
                <a:latin typeface="Aptos"/>
              </a:rPr>
              <a:t>REVIEW 3  |  AI-ASSISTED DATA VISUALIZATION FOR BUSINESS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2332"/>
                </a:solidFill>
                <a:latin typeface="Aptos"/>
              </a:rPr>
              <a:t>23</a:t>
            </a:r>
          </a:p>
        </p:txBody>
      </p:sp>
      <p:pic>
        <p:nvPicPr>
          <p:cNvPr id="7" name="Picture 6" descr="22_actual_vs_predicted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5349240" cy="2194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3401568"/>
            <a:ext cx="53492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080"/>
                </a:solidFill>
                <a:latin typeface="Aptos"/>
              </a:rPr>
              <a:t>Actual versus predicted profit</a:t>
            </a:r>
          </a:p>
        </p:txBody>
      </p:sp>
      <p:pic>
        <p:nvPicPr>
          <p:cNvPr id="9" name="Picture 8" descr="37_comparative_actual_vs_predi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88720"/>
            <a:ext cx="5349240" cy="2194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72200" y="3401568"/>
            <a:ext cx="53492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080"/>
                </a:solidFill>
                <a:latin typeface="Aptos"/>
              </a:rPr>
              <a:t>Comparative actual versus predicted</a:t>
            </a:r>
          </a:p>
        </p:txBody>
      </p:sp>
      <p:pic>
        <p:nvPicPr>
          <p:cNvPr id="11" name="Picture 10" descr="25_predicted_profit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57600"/>
            <a:ext cx="5349240" cy="2148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5824727"/>
            <a:ext cx="53492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080"/>
                </a:solidFill>
                <a:latin typeface="Aptos"/>
              </a:rPr>
              <a:t>Predicted-profit distribution</a:t>
            </a:r>
          </a:p>
        </p:txBody>
      </p:sp>
      <p:pic>
        <p:nvPicPr>
          <p:cNvPr id="13" name="Picture 12" descr="26_xai_actual_vs_predict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657600"/>
            <a:ext cx="5349240" cy="2148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5824727"/>
            <a:ext cx="53492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080"/>
                </a:solidFill>
                <a:latin typeface="Aptos"/>
              </a:rPr>
              <a:t>XAI analysis prediction fit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036"/>
                </a:solidFill>
                <a:latin typeface="Aptos"/>
              </a:rPr>
              <a:t>D2 RESULTS: COMPARATIVE PROFIT REGRESSION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685800" cy="50292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53312" y="658368"/>
            <a:ext cx="100584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080"/>
                </a:solidFill>
                <a:latin typeface="Aptos"/>
              </a:rPr>
              <a:t>Values transcribed from results/d2_comparative_model_results.csv.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DCE3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080"/>
                </a:solidFill>
                <a:latin typeface="Aptos"/>
              </a:rPr>
              <a:t>REVIEW 3  |  AI-ASSISTED DATA VISUALIZATION FOR BUSINESS DECISION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2332"/>
                </a:solidFill>
                <a:latin typeface="Aptos"/>
              </a:rPr>
              <a:t>24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143000"/>
          <a:ext cx="10744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234440"/>
                <a:gridCol w="1371600"/>
                <a:gridCol w="1463040"/>
                <a:gridCol w="1005840"/>
                <a:gridCol w="155448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MAE ↓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RMSE ↓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sMAPE ↓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R² ↑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Avg rank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Gradient Boosting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35.58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94.12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69.76%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0.667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1.50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Hybrid 5 - Validation Optimized Ensemble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35.58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94.12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69.76%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0.667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1.50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Hybrid 1 - RF + GB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37.17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99.80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71.76%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0.626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3.40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Hybrid 6 - GB + Ridge Residual Correction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38.10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94.21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82.35%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0.666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4.20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Random Forest - Selected Features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40.95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110.39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76.33%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0.542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5.00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Hybrid 4 - RF + GB + Ridge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42.45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108.97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87.12%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0.554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6.00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43.23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116.44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80.72%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0.490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6.80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Hybrid 3 - Ridge + GB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45.04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110.68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92.93%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0.540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7.80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5486400"/>
            <a:ext cx="106070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BE2332"/>
                </a:solidFill>
                <a:latin typeface="Aptos"/>
              </a:rPr>
              <a:t>In the saved D2 comparison, Gradient Boosting is strongest overall; the validation-optimized candidate collapses to the same single model.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036"/>
                </a:solidFill>
                <a:latin typeface="Aptos"/>
              </a:rPr>
              <a:t>D2 RESULTS: MODEL COMPARISON VISUALS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685800" cy="50292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DCE3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080"/>
                </a:solidFill>
                <a:latin typeface="Aptos"/>
              </a:rPr>
              <a:t>REVIEW 3  |  AI-ASSISTED DATA VISUALIZATION FOR BUSINESS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2332"/>
                </a:solidFill>
                <a:latin typeface="Aptos"/>
              </a:rPr>
              <a:t>25</a:t>
            </a:r>
          </a:p>
        </p:txBody>
      </p:sp>
      <p:pic>
        <p:nvPicPr>
          <p:cNvPr id="7" name="Picture 6" descr="34_d2_comparativ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440680" cy="2240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3401568"/>
            <a:ext cx="54406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080"/>
                </a:solidFill>
                <a:latin typeface="Aptos"/>
              </a:rPr>
              <a:t>D2 comparative metrics</a:t>
            </a:r>
          </a:p>
        </p:txBody>
      </p:sp>
      <p:pic>
        <p:nvPicPr>
          <p:cNvPr id="9" name="Picture 8" descr="35_d2_hybrid_candidat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43000"/>
            <a:ext cx="5349240" cy="2240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3401568"/>
            <a:ext cx="53492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080"/>
                </a:solidFill>
                <a:latin typeface="Aptos"/>
              </a:rPr>
              <a:t>D2 hybrid candidate comparison</a:t>
            </a:r>
          </a:p>
        </p:txBody>
      </p:sp>
      <p:pic>
        <p:nvPicPr>
          <p:cNvPr id="11" name="Picture 10" descr="36_d2_model_r2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3657600"/>
            <a:ext cx="7909560" cy="2148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148840" y="5824727"/>
            <a:ext cx="79095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080"/>
                </a:solidFill>
                <a:latin typeface="Aptos"/>
              </a:rPr>
              <a:t>D2 R² comparison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036"/>
                </a:solidFill>
                <a:latin typeface="Aptos"/>
              </a:rPr>
              <a:t>HYBRID SEARCH: WHAT THE EARLIER EXPERIMENTS SHOW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685800" cy="50292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DCE3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080"/>
                </a:solidFill>
                <a:latin typeface="Aptos"/>
              </a:rPr>
              <a:t>REVIEW 3  |  AI-ASSISTED DATA VISUALIZATION FOR BUSINESS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2332"/>
                </a:solidFill>
                <a:latin typeface="Aptos"/>
              </a:rPr>
              <a:t>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18872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200400"/>
                <a:gridCol w="3200400"/>
                <a:gridCol w="3657600"/>
              </a:tblGrid>
              <a:tr h="1097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Dataset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Best baseline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Best genuine hybrid in prior candidate set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Evidence-based conclusion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D1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Gradient Boosting: MAE 21.70, RMSE 93.73, R² 0.837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RF + GB: MAE 24.50, RMSE 102.28, R² 0.806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Hybrid does not beat best baseline on MAE/RMSE/R² collectively.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D2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Gradient Boosting: MAE 35.58, RMSE 94.12, R² 0.667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RF + GB: MAE 37.17, RMSE 99.80, R² 0.626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Hybrid does not beat best baseline in the reported comparison.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" y="4800600"/>
            <a:ext cx="4983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4800600"/>
            <a:ext cx="64008" cy="914400"/>
          </a:xfrm>
          <a:prstGeom prst="rect">
            <a:avLst/>
          </a:prstGeom>
          <a:solidFill>
            <a:srgbClr val="DAA339"/>
          </a:solidFill>
          <a:ln>
            <a:solidFill>
              <a:srgbClr val="DAA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4910328"/>
            <a:ext cx="469087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2036"/>
                </a:solidFill>
                <a:latin typeface="Aptos"/>
              </a:rPr>
              <a:t>Important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5257800"/>
            <a:ext cx="4690872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52E3B"/>
                </a:solidFill>
                <a:latin typeface="Aptos"/>
              </a:rPr>
              <a:t>A validation-optimized ensemble can select 100% of one model.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800600"/>
            <a:ext cx="4983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4800600"/>
            <a:ext cx="64008" cy="914400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4910328"/>
            <a:ext cx="469087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2036"/>
                </a:solidFill>
                <a:latin typeface="Aptos"/>
              </a:rPr>
              <a:t>Research implication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5257800"/>
            <a:ext cx="4690872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52E3B"/>
                </a:solidFill>
                <a:latin typeface="Aptos"/>
              </a:rPr>
              <a:t>Do not claim hybrid superiority without consistent evidence.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036"/>
                </a:solidFill>
                <a:latin typeface="Aptos"/>
              </a:rPr>
              <a:t>ADDITIONAL D1 EXPERIMENT: RESIDUAL HYBRID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685800" cy="50292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53312" y="658368"/>
            <a:ext cx="100584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080"/>
                </a:solidFill>
                <a:latin typeface="Aptos"/>
              </a:rPr>
              <a:t>Actual results from results/d1_final_hybrid_results.csv; this experiment uses its own 80/10/10 sequential split.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DCE3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080"/>
                </a:solidFill>
                <a:latin typeface="Aptos"/>
              </a:rPr>
              <a:t>REVIEW 3  |  AI-ASSISTED DATA VISUALIZATION FOR BUSINESS DECISION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2332"/>
                </a:solidFill>
                <a:latin typeface="Aptos"/>
              </a:rPr>
              <a:t>27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097280"/>
          <a:ext cx="112014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  <a:gridCol w="1143000"/>
                <a:gridCol w="1325880"/>
                <a:gridCol w="1325880"/>
                <a:gridCol w="914400"/>
                <a:gridCol w="2606040"/>
              </a:tblGrid>
              <a:tr h="520065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MAE ↓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RMSE ↓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sMAPE ↓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R² ↑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Parameter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Hybrid 1 - GB + RF Residual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15.65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102.80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39.23%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0.835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1.0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17.66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131.85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38.78%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0.729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nan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Hybrid 2 - RF + GB Residual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17.66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131.85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38.78%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0.729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Gradient Boosting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23.44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106.96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72.91%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0.822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nan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Hybrid 4 - Constrained GB+RF+Ridge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21.27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125.33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65.54%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0.755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GB=0.4, RF=0.5, Ridge=0.1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Hybrid 3 - GB + Ridge Residual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24.14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107.46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77.47%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0.820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1.0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Ridge Regression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59.16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234.40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118.60%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0.143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nan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5468112"/>
            <a:ext cx="106070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BE2332"/>
                </a:solidFill>
                <a:latin typeface="Aptos"/>
              </a:rPr>
              <a:t>GB + RF residual correction has the best average rank in this additional D1 experiment, but its RMSE is not the lowest. Compare only within this experiment's split.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036"/>
                </a:solidFill>
                <a:latin typeface="Aptos"/>
              </a:rPr>
              <a:t>HYBRID SELECTION: FAIRNESS AND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685800" cy="50292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DCE3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080"/>
                </a:solidFill>
                <a:latin typeface="Aptos"/>
              </a:rPr>
              <a:t>REVIEW 3  |  AI-ASSISTED DATA VISUALIZATION FOR BUSINESS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2332"/>
                </a:solidFill>
                <a:latin typeface="Aptos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10515600" cy="3383280"/>
          </a:xfrm>
          <a:prstGeom prst="rect">
            <a:avLst/>
          </a:prstGeom>
          <a:noFill/>
        </p:spPr>
        <p:txBody>
          <a:bodyPr wrap="square" lIns="73152" rIns="54864" tIns="54864" bIns="18288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BE2332"/>
                </a:solidFill>
                <a:latin typeface="Aptos"/>
              </a:rPr>
              <a:t>•  </a:t>
            </a:r>
            <a:r>
              <a:rPr sz="1400">
                <a:solidFill>
                  <a:srgbClr val="252E3B"/>
                </a:solidFill>
                <a:latin typeface="Aptos"/>
              </a:rPr>
              <a:t>Different saved experiment files may reflect different split strategies and should not be compared as if they were one experiment.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BE2332"/>
                </a:solidFill>
                <a:latin typeface="Aptos"/>
              </a:rPr>
              <a:t>•  </a:t>
            </a:r>
            <a:r>
              <a:rPr sz="1400">
                <a:solidFill>
                  <a:srgbClr val="252E3B"/>
                </a:solidFill>
                <a:latin typeface="Aptos"/>
              </a:rPr>
              <a:t>Residual correction can improve one metric while worsening another; selection needs a predeclared primary metric or justified multi-metric rule.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BE2332"/>
                </a:solidFill>
                <a:latin typeface="Aptos"/>
              </a:rPr>
              <a:t>•  </a:t>
            </a:r>
            <a:r>
              <a:rPr sz="1400">
                <a:solidFill>
                  <a:srgbClr val="252E3B"/>
                </a:solidFill>
                <a:latin typeface="Aptos"/>
              </a:rPr>
              <a:t>MAPE can become unstable when actual profit is near zero; report it with MAE, RMSE, sMAPE and R².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BE2332"/>
                </a:solidFill>
                <a:latin typeface="Aptos"/>
              </a:rPr>
              <a:t>•  </a:t>
            </a:r>
            <a:r>
              <a:rPr sz="1400">
                <a:solidFill>
                  <a:srgbClr val="252E3B"/>
                </a:solidFill>
                <a:latin typeface="Aptos"/>
              </a:rPr>
              <a:t>Hybrid weights that assign zero to components are effectively single-model results, not genuine multi-model combinations.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BE2332"/>
                </a:solidFill>
                <a:latin typeface="Aptos"/>
              </a:rPr>
              <a:t>•  </a:t>
            </a:r>
            <a:r>
              <a:rPr sz="1400">
                <a:solidFill>
                  <a:srgbClr val="252E3B"/>
                </a:solidFill>
                <a:latin typeface="Aptos"/>
              </a:rPr>
              <a:t>Statistical significance and robustness require repeated seeds or suitable paired tests; average rank alone does not establish significance.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983480"/>
            <a:ext cx="10424160" cy="640080"/>
          </a:xfrm>
          <a:prstGeom prst="roundRect">
            <a:avLst>
              <a:gd name="adj" fmla="val 12000"/>
            </a:avLst>
          </a:prstGeom>
          <a:solidFill>
            <a:srgbClr val="FBF7EB"/>
          </a:solidFill>
          <a:ln>
            <a:solidFill>
              <a:srgbClr val="FB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166360"/>
            <a:ext cx="100584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42036"/>
                </a:solidFill>
                <a:latin typeface="Aptos"/>
              </a:rPr>
              <a:t>Final proposed hybrid is not yet declared superior; additional consistent validation and novelty review are required.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036"/>
                </a:solidFill>
                <a:latin typeface="Aptos"/>
              </a:rPr>
              <a:t>D3 CLUSTERING: METHODS AND INPUTS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685800" cy="50292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DCE3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080"/>
                </a:solidFill>
                <a:latin typeface="Aptos"/>
              </a:rPr>
              <a:t>REVIEW 3  |  AI-ASSISTED DATA VISUALIZATION FOR BUSINESS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2332"/>
                </a:solidFill>
                <a:latin typeface="Aptos"/>
              </a:rPr>
              <a:t>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3474720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64008" cy="2468880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344168"/>
            <a:ext cx="318211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036"/>
                </a:solidFill>
                <a:latin typeface="Aptos"/>
              </a:rPr>
              <a:t>Input representation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691640"/>
            <a:ext cx="3182112" cy="19385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52E3B"/>
                </a:solidFill>
                <a:latin typeface="Aptos"/>
              </a:rPr>
              <a:t>• ZIP-code prefix
• State encoded categorically
• Standardized numeric feature space
• Deterministic 25,000-row evaluation sample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34440"/>
            <a:ext cx="3474720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234440"/>
            <a:ext cx="64008" cy="2468880"/>
          </a:xfrm>
          <a:prstGeom prst="rect">
            <a:avLst/>
          </a:prstGeom>
          <a:solidFill>
            <a:srgbClr val="1D8482"/>
          </a:solidFill>
          <a:ln>
            <a:solidFill>
              <a:srgbClr val="1D8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344168"/>
            <a:ext cx="318211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036"/>
                </a:solidFill>
                <a:latin typeface="Aptos"/>
              </a:rPr>
              <a:t>Methods compared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691640"/>
            <a:ext cx="3182112" cy="19385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52E3B"/>
                </a:solidFill>
                <a:latin typeface="Aptos"/>
              </a:rPr>
              <a:t>• K-Means (k = 2–8)
• Agglomerative (k = 2–8)
• Gaussian Mixture (k = 2–8)
• DBSCAN parameter grid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234440"/>
            <a:ext cx="3474720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234440"/>
            <a:ext cx="64008" cy="2468880"/>
          </a:xfrm>
          <a:prstGeom prst="rect">
            <a:avLst/>
          </a:prstGeom>
          <a:solidFill>
            <a:srgbClr val="DAA339"/>
          </a:solidFill>
          <a:ln>
            <a:solidFill>
              <a:srgbClr val="DAA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1" y="1344168"/>
            <a:ext cx="318211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036"/>
                </a:solidFill>
                <a:latin typeface="Aptos"/>
              </a:rPr>
              <a:t>Internal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1691640"/>
            <a:ext cx="3182112" cy="19385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52E3B"/>
                </a:solidFill>
                <a:latin typeface="Aptos"/>
              </a:rPr>
              <a:t>• Silhouette: higher is better
• Davies–Bouldin: lower is better
• Calinski–Harabasz: higher is better
• Interpret together with geographic meaning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BE2332"/>
                </a:solidFill>
                <a:latin typeface="Aptos"/>
              </a:rPr>
              <a:t>This is geographic segmentation—not purchase-frequency, lifetime-value or behavioural segmentation.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036"/>
                </a:solidFill>
                <a:latin typeface="Aptos"/>
              </a:rPr>
              <a:t>D3 RESULTS: CLUSTERING MODEL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685800" cy="50292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DCE3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080"/>
                </a:solidFill>
                <a:latin typeface="Aptos"/>
              </a:rPr>
              <a:t>REVIEW 3  |  AI-ASSISTED DATA VISUALIZATION FOR BUSINESS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2332"/>
                </a:solidFill>
                <a:latin typeface="Aptos"/>
              </a:rPr>
              <a:t>30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234440"/>
          <a:ext cx="109728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143000"/>
                <a:gridCol w="1005840"/>
                <a:gridCol w="1508760"/>
                <a:gridCol w="1828800"/>
                <a:gridCol w="2468880"/>
              </a:tblGrid>
              <a:tr h="48463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Method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Clusters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Noise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Silhouette ↑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Davies–Bouldin ↓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Calinski–Harabasz ↑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DBSCAN (eps=0.30, min_samples=5)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27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0.9143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0.0820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111,738.4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Agglomerative (k=8)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0.7714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0.8786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32,228.4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K-Means (k=8)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0.7579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0.9323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30,377.5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Gaussian Mixture (k=8)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0.7367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1.2327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27,291.7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37_d3_clustering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886200"/>
            <a:ext cx="475488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5733288"/>
            <a:ext cx="47548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080"/>
                </a:solidFill>
                <a:latin typeface="Aptos"/>
              </a:rPr>
              <a:t>Saved clustering comparison</a:t>
            </a:r>
          </a:p>
        </p:txBody>
      </p:sp>
      <p:pic>
        <p:nvPicPr>
          <p:cNvPr id="10" name="Picture 9" descr="38_d3_kmeans_silhouet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886200"/>
            <a:ext cx="4754880" cy="182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5733288"/>
            <a:ext cx="47548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080"/>
                </a:solidFill>
                <a:latin typeface="Aptos"/>
              </a:rPr>
              <a:t>K-Means silhouette by 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036"/>
                </a:solidFill>
                <a:latin typeface="Aptos"/>
              </a:rPr>
              <a:t>D3 RESULTS: DBSCAN PARAMETER CHECK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685800" cy="50292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DCE3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080"/>
                </a:solidFill>
                <a:latin typeface="Aptos"/>
              </a:rPr>
              <a:t>REVIEW 3  |  AI-ASSISTED DATA VISUALIZATION FOR BUSINESS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2332"/>
                </a:solidFill>
                <a:latin typeface="Aptos"/>
              </a:rPr>
              <a:t>31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234440"/>
          <a:ext cx="107899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371600"/>
                <a:gridCol w="1645920"/>
                <a:gridCol w="1828800"/>
                <a:gridCol w="192024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Configuration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Clusters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Noise points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Silhouette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Davies–Bouldin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DBSCAN (eps=0.30, min_samples=5)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27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0.9143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0.0820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DBSCAN (eps=0.30, min_samples=10)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27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0.9143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0.0820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DBSCAN (eps=0.40, min_samples=5)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27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0.9143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0.0820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DBSCAN (eps=0.40, min_samples=10)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27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0.9143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0.0820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DBSCAN (eps=0.50, min_samples=5)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27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0.9143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0.0820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DBSCAN (eps=0.50, min_samples=10)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27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0.9143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0.0820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DBSCAN (eps=0.60, min_samples=5)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27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0.9143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0.0820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39_d3_cluster_siz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069080"/>
            <a:ext cx="8412480" cy="1783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28800" y="5870448"/>
            <a:ext cx="8412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080"/>
                </a:solidFill>
                <a:latin typeface="Aptos"/>
              </a:rPr>
              <a:t>Saved cluster-size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104241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BE2332"/>
                </a:solidFill>
                <a:latin typeface="Aptos"/>
              </a:rPr>
              <a:t>DBSCAN reports 27 clusters and 0 noise points in the saved evaluation; inspect parameter sensitivity and cluster meaning before business use.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036"/>
                </a:solidFill>
                <a:latin typeface="Aptos"/>
              </a:rPr>
              <a:t>D3 RESULTS: EXAMPLE CLUSTER PROFILES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685800" cy="50292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DCE3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080"/>
                </a:solidFill>
                <a:latin typeface="Aptos"/>
              </a:rPr>
              <a:t>REVIEW 3  |  AI-ASSISTED DATA VISUALIZATION FOR BUSINESS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2332"/>
                </a:solidFill>
                <a:latin typeface="Aptos"/>
              </a:rPr>
              <a:t>32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05840" y="1234440"/>
          <a:ext cx="58521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280160"/>
                <a:gridCol w="1828800"/>
                <a:gridCol w="1828800"/>
              </a:tblGrid>
              <a:tr h="35744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Cluster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Customers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Average ZIP prefix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Median ZIP prefix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1228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84105.2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84200.0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909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88827.1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88815.0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3218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24007.5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23075.0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307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61619.8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61650.0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10529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9246.0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8730.0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1399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94810.4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95300.0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543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71679.3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71881.0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411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53600.1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54090.0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2967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35216.2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35860.0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3574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9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231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67305.6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67118.0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223760" y="1417320"/>
            <a:ext cx="393192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23760" y="1417320"/>
            <a:ext cx="64008" cy="1508760"/>
          </a:xfrm>
          <a:prstGeom prst="rect">
            <a:avLst/>
          </a:prstGeom>
          <a:solidFill>
            <a:srgbClr val="DAA339"/>
          </a:solidFill>
          <a:ln>
            <a:solidFill>
              <a:srgbClr val="DAA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88352" y="1527048"/>
            <a:ext cx="363931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036"/>
                </a:solidFill>
                <a:latin typeface="Aptos"/>
              </a:rPr>
              <a:t>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8352" y="1874519"/>
            <a:ext cx="3639312" cy="9784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52E3B"/>
                </a:solidFill>
                <a:latin typeface="Aptos"/>
              </a:rPr>
              <a:t>Profiles summarize ZIP-prefix values within assigned clusters; ZIP prefixes are identifiers, not a true distance metric.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3246120"/>
            <a:ext cx="393192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23760" y="3246120"/>
            <a:ext cx="64008" cy="1508760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88352" y="3355848"/>
            <a:ext cx="363931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036"/>
                </a:solidFill>
                <a:latin typeface="Aptos"/>
              </a:rPr>
              <a:t>Limitation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8352" y="3703320"/>
            <a:ext cx="3639312" cy="9784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52E3B"/>
                </a:solidFill>
                <a:latin typeface="Aptos"/>
              </a:rPr>
              <a:t>Geographic validity should be checked against actual coordinates or a suitable geographic distance representation.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036"/>
                </a:solidFill>
                <a:latin typeface="Aptos"/>
              </a:rPr>
              <a:t>EXPLAINABLE AI: PERMUTATION FEATURE IMPORTANCE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685800" cy="50292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DCE3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080"/>
                </a:solidFill>
                <a:latin typeface="Aptos"/>
              </a:rPr>
              <a:t>REVIEW 3  |  AI-ASSISTED DATA VISUALIZATION FOR BUSINESS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2332"/>
                </a:solidFill>
                <a:latin typeface="Aptos"/>
              </a:rPr>
              <a:t>33</a:t>
            </a:r>
          </a:p>
        </p:txBody>
      </p:sp>
      <p:pic>
        <p:nvPicPr>
          <p:cNvPr id="7" name="Picture 6" descr="24_xai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5760720" cy="347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4636007"/>
            <a:ext cx="5760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080"/>
                </a:solidFill>
                <a:latin typeface="Aptos"/>
              </a:rPr>
              <a:t>Saved permutation importance plot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37960" y="1280160"/>
          <a:ext cx="461772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1234440"/>
                <a:gridCol w="1143000"/>
              </a:tblGrid>
              <a:tr h="3606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Rank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Feature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Std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sales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1.6078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0.0556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discount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1.0649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0.0662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subcategory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0.0568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0.0018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stateprovince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0.0175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0.0019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category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0.0120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0.0012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quantity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0.0101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0.0012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region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0.0066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0.0015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order_month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0.0063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0.0017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4983480"/>
            <a:ext cx="105156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42036"/>
                </a:solidFill>
                <a:latin typeface="Aptos"/>
              </a:rPr>
              <a:t>Sales and discount dominate the saved D1 importance values. Importance indicates model reliance, not causal effect.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036"/>
                </a:solidFill>
                <a:latin typeface="Aptos"/>
              </a:rPr>
              <a:t>BUSINESS SUMMARY: KEY PERFORMANCE INDICATORS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685800" cy="50292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DCE3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080"/>
                </a:solidFill>
                <a:latin typeface="Aptos"/>
              </a:rPr>
              <a:t>REVIEW 3  |  AI-ASSISTED DATA VISUALIZATION FOR BUSINESS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2332"/>
                </a:solidFill>
                <a:latin typeface="Aptos"/>
              </a:rPr>
              <a:t>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256032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25880"/>
            <a:ext cx="2414015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BE2332"/>
                </a:solidFill>
                <a:latin typeface="Aptos"/>
              </a:rPr>
              <a:t>$2.33M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746504"/>
            <a:ext cx="2414015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036"/>
                </a:solidFill>
                <a:latin typeface="Aptos"/>
              </a:rPr>
              <a:t>Total sales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234440"/>
            <a:ext cx="256032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2152" y="1325880"/>
            <a:ext cx="2414015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1D8482"/>
                </a:solidFill>
                <a:latin typeface="Aptos"/>
              </a:rPr>
              <a:t>$292.3K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1746504"/>
            <a:ext cx="2414015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036"/>
                </a:solidFill>
                <a:latin typeface="Aptos"/>
              </a:rPr>
              <a:t>Total profit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234440"/>
            <a:ext cx="256032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1325880"/>
            <a:ext cx="2414015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DAA339"/>
                </a:solidFill>
                <a:latin typeface="Aptos"/>
              </a:rPr>
              <a:t>38,654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1746504"/>
            <a:ext cx="2414015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036"/>
                </a:solidFill>
                <a:latin typeface="Aptos"/>
              </a:rPr>
              <a:t>Total quantity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1234440"/>
            <a:ext cx="256032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88552" y="1325880"/>
            <a:ext cx="2414015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142036"/>
                </a:solidFill>
                <a:latin typeface="Aptos"/>
              </a:rPr>
              <a:t>15.54%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8552" y="1746504"/>
            <a:ext cx="2414015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036"/>
                </a:solidFill>
                <a:latin typeface="Aptos"/>
              </a:rPr>
              <a:t>Average discount</a:t>
            </a:r>
          </a:p>
        </p:txBody>
      </p:sp>
      <p:pic>
        <p:nvPicPr>
          <p:cNvPr id="19" name="Picture 18" descr="27_business_profit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34640"/>
            <a:ext cx="5212080" cy="23317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85800" y="5184648"/>
            <a:ext cx="52120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080"/>
                </a:solidFill>
                <a:latin typeface="Aptos"/>
              </a:rPr>
              <a:t>Profit by category</a:t>
            </a:r>
          </a:p>
        </p:txBody>
      </p:sp>
      <p:pic>
        <p:nvPicPr>
          <p:cNvPr id="21" name="Picture 20" descr="29_business_profit_by_reg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834640"/>
            <a:ext cx="5212080" cy="23317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172200" y="5184648"/>
            <a:ext cx="52120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080"/>
                </a:solidFill>
                <a:latin typeface="Aptos"/>
              </a:rPr>
              <a:t>Profit by region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036"/>
                </a:solidFill>
                <a:latin typeface="Aptos"/>
              </a:rPr>
              <a:t>BUSINESS INSIGHTS: CATEGORY AND REGION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685800" cy="50292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DCE3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080"/>
                </a:solidFill>
                <a:latin typeface="Aptos"/>
              </a:rPr>
              <a:t>REVIEW 3  |  AI-ASSISTED DATA VISUALIZATION FOR BUSINESS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2332"/>
                </a:solidFill>
                <a:latin typeface="Aptos"/>
              </a:rPr>
              <a:t>35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188720"/>
          <a:ext cx="548640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188720"/>
                <a:gridCol w="1188720"/>
                <a:gridCol w="914400"/>
                <a:gridCol w="685800"/>
              </a:tblGrid>
              <a:tr h="53721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Category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Sales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Profit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Avg disc.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Margin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Technology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$839,893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$146,543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13.1%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17.4%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Office Supplies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$731,893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$126,023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15.6%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17.2%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Furniture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$754,748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$19,730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17.3%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2.6%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188720"/>
          <a:ext cx="512064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143000"/>
              </a:tblGrid>
              <a:tr h="4297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Region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Sales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Profit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Avg disc.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West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$739,814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$110,799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10.9%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East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$691,828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$94,883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14.3%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South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$391,722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$46,749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14.7%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Central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$503,171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$39,865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24.1%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3703320"/>
            <a:ext cx="521208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703320"/>
            <a:ext cx="64008" cy="1325880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813048"/>
            <a:ext cx="491947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036"/>
                </a:solidFill>
                <a:latin typeface="Aptos"/>
              </a:rPr>
              <a:t>Category observation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160520"/>
            <a:ext cx="4919472" cy="7955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52E3B"/>
                </a:solidFill>
                <a:latin typeface="Aptos"/>
              </a:rPr>
              <a:t>Technology reports the highest total profit (~$146.5K); Furniture reports the lowest (~$19.7K).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703320"/>
            <a:ext cx="521208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3703320"/>
            <a:ext cx="64008" cy="1325880"/>
          </a:xfrm>
          <a:prstGeom prst="rect">
            <a:avLst/>
          </a:prstGeom>
          <a:solidFill>
            <a:srgbClr val="1D8482"/>
          </a:solidFill>
          <a:ln>
            <a:solidFill>
              <a:srgbClr val="1D8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813048"/>
            <a:ext cx="491947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036"/>
                </a:solidFill>
                <a:latin typeface="Aptos"/>
              </a:rPr>
              <a:t>Regional observation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160520"/>
            <a:ext cx="4919472" cy="7955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52E3B"/>
                </a:solidFill>
                <a:latin typeface="Aptos"/>
              </a:rPr>
              <a:t>West reports the highest total profit (~$110.8K) in the saved business summary.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94960"/>
            <a:ext cx="10515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47080"/>
                </a:solidFill>
                <a:latin typeface="Aptos"/>
              </a:rPr>
              <a:t>These are descriptive dataset findings, not causal conclusions or universal business rules.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036"/>
                </a:solidFill>
                <a:latin typeface="Aptos"/>
              </a:rPr>
              <a:t>BUSINESS INSIGHTS: DISCOUNT AND SUBCATEGORY RISK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685800" cy="50292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DCE3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080"/>
                </a:solidFill>
                <a:latin typeface="Aptos"/>
              </a:rPr>
              <a:t>REVIEW 3  |  AI-ASSISTED DATA VISUALIZATION FOR BUSINESS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2332"/>
                </a:solidFill>
                <a:latin typeface="Aptos"/>
              </a:rPr>
              <a:t>36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5760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325880"/>
                <a:gridCol w="1234440"/>
                <a:gridCol w="1143000"/>
                <a:gridCol w="822960"/>
              </a:tblGrid>
              <a:tr h="4876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Discount band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Sales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Profit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Avg profit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Records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0-10%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$1,160,276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$335,819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$66.88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5021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10-20%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$801,498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$92,499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$24.61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3758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20-40%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$235,465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$-35,991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$-77.57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464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40-60%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$71,509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$-29,164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$-129.04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226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60%+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$57,785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$-70,866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$-97.75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725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37960" y="1188720"/>
          <a:ext cx="49377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508760"/>
                <a:gridCol w="1325880"/>
              </a:tblGrid>
              <a:tr h="418011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Subcategory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Profit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Avg discount</a:t>
                      </a:r>
                    </a:p>
                  </a:txBody>
                  <a:tcPr marL="64008" marR="45720" marT="27432" marB="27432">
                    <a:solidFill>
                      <a:srgbClr val="142036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Tables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$-17,753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25.8%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Bookcases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$-3,632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21.5%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Supplies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$-1,171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7.6%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Fasteners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$2,429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7.9%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Machines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$3,462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30.4%</a:t>
                      </a:r>
                    </a:p>
                  </a:txBody>
                  <a:tcPr marL="64008" marR="45720" marT="22860" marB="22860"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Labels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$5,573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2E3B"/>
                          </a:solidFill>
                          <a:latin typeface="Aptos"/>
                        </a:defRPr>
                      </a:pPr>
                      <a:r>
                        <a:t>7.1%</a:t>
                      </a:r>
                    </a:p>
                  </a:txBody>
                  <a:tcPr marL="64008" marR="45720" marT="22860" marB="22860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28_discount_vs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389120"/>
            <a:ext cx="4572000" cy="1508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5916167"/>
            <a:ext cx="45720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080"/>
                </a:solidFill>
                <a:latin typeface="Aptos"/>
              </a:rPr>
              <a:t>Discount versus profit</a:t>
            </a:r>
          </a:p>
        </p:txBody>
      </p:sp>
      <p:pic>
        <p:nvPicPr>
          <p:cNvPr id="11" name="Picture 10" descr="34_dss_discount_pro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389120"/>
            <a:ext cx="4572000" cy="1508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5916167"/>
            <a:ext cx="45720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080"/>
                </a:solidFill>
                <a:latin typeface="Aptos"/>
              </a:rPr>
              <a:t>DSS discount-profit view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036"/>
                </a:solidFill>
                <a:latin typeface="Aptos"/>
              </a:rPr>
              <a:t>DASHBOARD: APPLICATION STRUCTURE AND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685800" cy="50292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DCE3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080"/>
                </a:solidFill>
                <a:latin typeface="Aptos"/>
              </a:rPr>
              <a:t>REVIEW 3  |  AI-ASSISTED DATA VISUALIZATION FOR BUSINESS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2332"/>
                </a:solidFill>
                <a:latin typeface="Aptos"/>
              </a:rPr>
              <a:t>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3474720" cy="297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64008" cy="2971800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344168"/>
            <a:ext cx="318211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036"/>
                </a:solidFill>
                <a:latin typeface="Aptos"/>
              </a:rPr>
              <a:t>Navigation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691640"/>
            <a:ext cx="3182112" cy="24414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52E3B"/>
                </a:solidFill>
                <a:latin typeface="Aptos"/>
              </a:rPr>
              <a:t>• Overview
• Analytics
• Profit Prediction
• Explainable AI
• Recommendations
• ML Models &amp; Algorithms
• Ask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34440"/>
            <a:ext cx="3474720" cy="297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234440"/>
            <a:ext cx="64008" cy="2971800"/>
          </a:xfrm>
          <a:prstGeom prst="rect">
            <a:avLst/>
          </a:prstGeom>
          <a:solidFill>
            <a:srgbClr val="1D8482"/>
          </a:solidFill>
          <a:ln>
            <a:solidFill>
              <a:srgbClr val="1D8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344168"/>
            <a:ext cx="318211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036"/>
                </a:solidFill>
                <a:latin typeface="Aptos"/>
              </a:rPr>
              <a:t>Dataset-aware behaviour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691640"/>
            <a:ext cx="3182112" cy="24414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52E3B"/>
                </a:solidFill>
                <a:latin typeface="Aptos"/>
              </a:rPr>
              <a:t>• D1/D2: profit regression
• D3: geographic segmentation
• KPI and trend views
• Model metrics and explanations
• Business recommendations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234440"/>
            <a:ext cx="3474720" cy="297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234440"/>
            <a:ext cx="64008" cy="2971800"/>
          </a:xfrm>
          <a:prstGeom prst="rect">
            <a:avLst/>
          </a:prstGeom>
          <a:solidFill>
            <a:srgbClr val="DAA339"/>
          </a:solidFill>
          <a:ln>
            <a:solidFill>
              <a:srgbClr val="DAA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1" y="1344168"/>
            <a:ext cx="318211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036"/>
                </a:solidFill>
                <a:latin typeface="Aptos"/>
              </a:rPr>
              <a:t>Before claiming validated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1691640"/>
            <a:ext cx="3182112" cy="24414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52E3B"/>
                </a:solidFill>
                <a:latin typeface="Aptos"/>
              </a:rPr>
              <a:t>• Clean startup
• Verify all pages
• Test predictions per dataset
• Inspect charts and errors
• Capture actual dashboard screenshots
• Confirm no broken paths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09160"/>
            <a:ext cx="1051560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BE2332"/>
                </a:solidFill>
                <a:latin typeface="Aptos"/>
              </a:rPr>
              <a:t>Replace mock-ups in the final oral presentation with screenshots from the actual running Streamlit app.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036"/>
                </a:solidFill>
                <a:latin typeface="Aptos"/>
              </a:rPr>
              <a:t>IMPLEMENTATION, REPRODUCIBILITY AND REPOSITORY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685800" cy="50292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DCE3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080"/>
                </a:solidFill>
                <a:latin typeface="Aptos"/>
              </a:rPr>
              <a:t>REVIEW 3  |  AI-ASSISTED DATA VISUALIZATION FOR BUSINESS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2332"/>
                </a:solidFill>
                <a:latin typeface="Aptos"/>
              </a:rPr>
              <a:t>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5212080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64008" cy="3246120"/>
          </a:xfrm>
          <a:prstGeom prst="rect">
            <a:avLst/>
          </a:prstGeom>
          <a:solidFill>
            <a:srgbClr val="1D8482"/>
          </a:solidFill>
          <a:ln>
            <a:solidFill>
              <a:srgbClr val="1D8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344168"/>
            <a:ext cx="491947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036"/>
                </a:solidFill>
                <a:latin typeface="Aptos"/>
              </a:rPr>
              <a:t>Implemented artefacts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691640"/>
            <a:ext cx="4919472" cy="27157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52E3B"/>
                </a:solidFill>
                <a:latin typeface="Aptos"/>
              </a:rPr>
              <a:t>• Cleaning and EDA scripts
• Feature-selection results
• Baseline and comparative model results
• Hybrid candidate experiments
• XAI importance and prediction explanations
• Business recommendation summaries
• D3 clustering model/parameter results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234440"/>
            <a:ext cx="5212080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234440"/>
            <a:ext cx="64008" cy="3246120"/>
          </a:xfrm>
          <a:prstGeom prst="rect">
            <a:avLst/>
          </a:prstGeom>
          <a:solidFill>
            <a:srgbClr val="DAA339"/>
          </a:solidFill>
          <a:ln>
            <a:solidFill>
              <a:srgbClr val="DAA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344168"/>
            <a:ext cx="491947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036"/>
                </a:solidFill>
                <a:latin typeface="Aptos"/>
              </a:rPr>
              <a:t>Evidence to finalize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691640"/>
            <a:ext cx="4919472" cy="27157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52E3B"/>
                </a:solidFill>
                <a:latin typeface="Aptos"/>
              </a:rPr>
              <a:t>• Record package versions and random seeds
• Rerun scripts and match saved CSVs
• Document train/validation/test protocol
• Commit source, requirements and output artifacts
• Add README with run instructions
• Add repository URL and commit/version in slides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42036"/>
                </a:solidFill>
                <a:latin typeface="Aptos"/>
              </a:rPr>
              <a:t>A saved output file is evidence of an earlier run; reproducibility requires a documented rerun.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036"/>
                </a:solidFill>
                <a:latin typeface="Aptos"/>
              </a:rPr>
              <a:t>RESEARCH PAPER STATUS, LIMITATIONS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685800" cy="50292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DCE3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080"/>
                </a:solidFill>
                <a:latin typeface="Aptos"/>
              </a:rPr>
              <a:t>REVIEW 3  |  AI-ASSISTED DATA VISUALIZATION FOR BUSINESS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2332"/>
                </a:solidFill>
                <a:latin typeface="Aptos"/>
              </a:rPr>
              <a:t>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521208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64008" cy="3200400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344168"/>
            <a:ext cx="491947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036"/>
                </a:solidFill>
                <a:latin typeface="Aptos"/>
              </a:rPr>
              <a:t>Paper should contain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691640"/>
            <a:ext cx="4919472" cy="2670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52E3B"/>
                </a:solidFill>
                <a:latin typeface="Aptos"/>
              </a:rPr>
              <a:t>• Literature matrix: method formation, data, baselines, metrics, contribution and limitation
• EDA and feature-selection figures
• Baseline/hybrid metric tables
• Clustering comparison and profiles
• XAI and business findings
• Reproducibility and declarations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234440"/>
            <a:ext cx="521208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234440"/>
            <a:ext cx="64008" cy="3200400"/>
          </a:xfrm>
          <a:prstGeom prst="rect">
            <a:avLst/>
          </a:prstGeom>
          <a:solidFill>
            <a:srgbClr val="1D8482"/>
          </a:solidFill>
          <a:ln>
            <a:solidFill>
              <a:srgbClr val="1D8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344168"/>
            <a:ext cx="491947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036"/>
                </a:solidFill>
                <a:latin typeface="Aptos"/>
              </a:rPr>
              <a:t>Remaining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691640"/>
            <a:ext cx="4919472" cy="2670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52E3B"/>
                </a:solidFill>
                <a:latin typeface="Aptos"/>
              </a:rPr>
              <a:t>• Final hybrid experiment for D2
• Consistent split and fair comparison
• Verify DOI/full reference metadata
• Novelty check before making contribution claim
• Dashboard screenshot and end-to-end validation
• GitHub update and plagiarism/similarity check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892040"/>
            <a:ext cx="10424160" cy="594360"/>
          </a:xfrm>
          <a:prstGeom prst="roundRect">
            <a:avLst>
              <a:gd name="adj" fmla="val 12000"/>
            </a:avLst>
          </a:prstGeom>
          <a:solidFill>
            <a:srgbClr val="FBF7EB"/>
          </a:solidFill>
          <a:ln>
            <a:solidFill>
              <a:srgbClr val="FB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056632"/>
            <a:ext cx="100584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42036"/>
                </a:solidFill>
                <a:latin typeface="Aptos"/>
              </a:rPr>
              <a:t>Do not report unsupported novelty or superiority; clearly label any remaining work.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036"/>
                </a:solidFill>
                <a:latin typeface="Aptos"/>
              </a:rPr>
              <a:t>CONCLUSION: EVIDENCE-BASED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685800" cy="50292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DCE3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080"/>
                </a:solidFill>
                <a:latin typeface="Aptos"/>
              </a:rPr>
              <a:t>REVIEW 3  |  AI-ASSISTED DATA VISUALIZATION FOR BUSINESS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2332"/>
                </a:solidFill>
                <a:latin typeface="Aptos"/>
              </a:rPr>
              <a:t>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80160"/>
            <a:ext cx="347472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280160"/>
            <a:ext cx="64008" cy="2286000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389888"/>
            <a:ext cx="318211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036"/>
                </a:solidFill>
                <a:latin typeface="Aptos"/>
              </a:rPr>
              <a:t>Data and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737360"/>
            <a:ext cx="3182112" cy="1755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52E3B"/>
                </a:solidFill>
                <a:latin typeface="Aptos"/>
              </a:rPr>
              <a:t>Three datasets are prepared; D1/D2 use profit regression and D3 uses geographic segmentation.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80160"/>
            <a:ext cx="347472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280160"/>
            <a:ext cx="64008" cy="2286000"/>
          </a:xfrm>
          <a:prstGeom prst="rect">
            <a:avLst/>
          </a:prstGeom>
          <a:solidFill>
            <a:srgbClr val="1D8482"/>
          </a:solidFill>
          <a:ln>
            <a:solidFill>
              <a:srgbClr val="1D8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389888"/>
            <a:ext cx="318211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036"/>
                </a:solidFill>
                <a:latin typeface="Aptos"/>
              </a:rPr>
              <a:t>Model findings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737360"/>
            <a:ext cx="3182112" cy="1755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52E3B"/>
                </a:solidFill>
                <a:latin typeface="Aptos"/>
              </a:rPr>
              <a:t>Gradient Boosting leads the completed earlier D1/D2 comparison; the hybrid search is ongoing and does not yet establish consistent superiority.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280160"/>
            <a:ext cx="347472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280160"/>
            <a:ext cx="64008" cy="2286000"/>
          </a:xfrm>
          <a:prstGeom prst="rect">
            <a:avLst/>
          </a:prstGeom>
          <a:solidFill>
            <a:srgbClr val="DAA339"/>
          </a:solidFill>
          <a:ln>
            <a:solidFill>
              <a:srgbClr val="DAA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1" y="1389888"/>
            <a:ext cx="3182112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036"/>
                </a:solidFill>
                <a:latin typeface="Aptos"/>
              </a:rPr>
              <a:t>Decision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1737360"/>
            <a:ext cx="3182112" cy="1755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52E3B"/>
                </a:solidFill>
                <a:latin typeface="Aptos"/>
              </a:rPr>
              <a:t>Feature importance and descriptive business summaries connect the model workflow to interpretable outputs.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160520"/>
            <a:ext cx="104241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42036"/>
                </a:solidFill>
                <a:latin typeface="Aptos"/>
              </a:rPr>
              <a:t>Next: finalize consistent hybrid experiments → verify novelty → validate dashboard → synchronize PPT and paper → update repository.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892040"/>
            <a:ext cx="10241280" cy="731520"/>
          </a:xfrm>
          <a:prstGeom prst="roundRect">
            <a:avLst>
              <a:gd name="adj" fmla="val 12000"/>
            </a:avLst>
          </a:prstGeom>
          <a:solidFill>
            <a:srgbClr val="142036"/>
          </a:solidFill>
          <a:ln>
            <a:solidFill>
              <a:srgbClr val="14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5102352"/>
            <a:ext cx="97840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The final proposed model will be selected only when measured evidence supports the decision.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036"/>
                </a:solidFill>
                <a:latin typeface="Aptos"/>
              </a:rPr>
              <a:t>SELECTED REFERENCES FOR THE MODEL STUDY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685800" cy="50292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DCE3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080"/>
                </a:solidFill>
                <a:latin typeface="Aptos"/>
              </a:rPr>
              <a:t>REVIEW 3  |  AI-ASSISTED DATA VISUALIZATION FOR BUSINESS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2332"/>
                </a:solidFill>
                <a:latin typeface="Aptos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789920" cy="4526280"/>
          </a:xfrm>
          <a:prstGeom prst="rect">
            <a:avLst/>
          </a:prstGeom>
          <a:noFill/>
        </p:spPr>
        <p:txBody>
          <a:bodyPr wrap="square" lIns="73152" rIns="54864" tIns="54864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BE2332"/>
                </a:solidFill>
                <a:latin typeface="Aptos"/>
              </a:rPr>
              <a:t>•  </a:t>
            </a:r>
            <a:r>
              <a:rPr sz="1200">
                <a:solidFill>
                  <a:srgbClr val="252E3B"/>
                </a:solidFill>
                <a:latin typeface="Aptos"/>
              </a:rPr>
              <a:t>Lessmann, S., et al. (2021). Targeting customers for profit: An ensemble learning framework to support marketing decision-making. Information Sciences, 557, 286–301. DOI: 10.1016/j.ins.2019.05.027.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BE2332"/>
                </a:solidFill>
                <a:latin typeface="Aptos"/>
              </a:rPr>
              <a:t>•  </a:t>
            </a:r>
            <a:r>
              <a:rPr sz="1200">
                <a:solidFill>
                  <a:srgbClr val="252E3B"/>
                </a:solidFill>
                <a:latin typeface="Aptos"/>
              </a:rPr>
              <a:t>Predicting the Performance of Retail Market Firms: Regression and Machine Learning Methods. Mathematics (2023), 11(8), 1916. DOI: 10.3390/math11081916.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BE2332"/>
                </a:solidFill>
                <a:latin typeface="Aptos"/>
              </a:rPr>
              <a:t>•  </a:t>
            </a:r>
            <a:r>
              <a:rPr sz="1200">
                <a:solidFill>
                  <a:srgbClr val="252E3B"/>
                </a:solidFill>
                <a:latin typeface="Aptos"/>
              </a:rPr>
              <a:t>A Comparative Study of Demand Forecasting Models for a Multi-Channel Retail Company: A Novel Hybrid Machine Learning Approach (2022). DOI: 10.1007/s43069-022-00166-4.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BE2332"/>
                </a:solidFill>
                <a:latin typeface="Aptos"/>
              </a:rPr>
              <a:t>•  </a:t>
            </a:r>
            <a:r>
              <a:rPr sz="1200">
                <a:solidFill>
                  <a:srgbClr val="252E3B"/>
                </a:solidFill>
                <a:latin typeface="Aptos"/>
              </a:rPr>
              <a:t>Applying Machine Learning in Retail Demand Prediction—A Comparison of Tree-Based Ensembles and LSTM-Based Deep Learning. Applied Sciences (2023), 13(19), 11112. DOI: 10.3390/app131911112.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BE2332"/>
                </a:solidFill>
                <a:latin typeface="Aptos"/>
              </a:rPr>
              <a:t>•  </a:t>
            </a:r>
            <a:r>
              <a:rPr sz="1200">
                <a:solidFill>
                  <a:srgbClr val="252E3B"/>
                </a:solidFill>
                <a:latin typeface="Aptos"/>
              </a:rPr>
              <a:t>Regression based hybrid machine learning model performance evaluation on air quality index prediction in Kolkata. Scientific Reports (2026), 16, 26399. DOI: 10.1038/s41598-026-54918-x.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BE2332"/>
                </a:solidFill>
                <a:latin typeface="Aptos"/>
              </a:rPr>
              <a:t>•  </a:t>
            </a:r>
            <a:r>
              <a:rPr sz="1200">
                <a:solidFill>
                  <a:srgbClr val="252E3B"/>
                </a:solidFill>
                <a:latin typeface="Aptos"/>
              </a:rPr>
              <a:t>Project datasets: Superstore Sales; Global Superstore; Olist Brazilian E-Commerce Public Dataset (customer dataset file supplied for this implementation).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10515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BE2332"/>
                </a:solidFill>
                <a:latin typeface="Aptos"/>
              </a:rPr>
              <a:t>Verify complete bibliographic metadata and final citation style before submission.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E2332"/>
          </a:solidFill>
          <a:ln>
            <a:solidFill>
              <a:srgbClr val="BE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2194560"/>
            <a:ext cx="1554480" cy="64008"/>
          </a:xfrm>
          <a:prstGeom prst="rect">
            <a:avLst/>
          </a:prstGeom>
          <a:solidFill>
            <a:srgbClr val="DAA339"/>
          </a:solidFill>
          <a:ln>
            <a:solidFill>
              <a:srgbClr val="DAA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978408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D6DFEC"/>
                </a:solidFill>
                <a:latin typeface="Aptos"/>
              </a:rPr>
              <a:t>Questions, suggestions and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94760"/>
            <a:ext cx="978408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AI-Assisted Data Visualization for
Business Decision Support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074920"/>
            <a:ext cx="97840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D6DFEC"/>
                </a:solidFill>
                <a:latin typeface="Aptos"/>
              </a:rPr>
              <a:t>G. Harshavardhan Reddy  •  Ch. Sai Nikhil Reddy  •  T. Sai Satwik  •  V. Satya Dev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715000"/>
            <a:ext cx="9784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DAA339"/>
                </a:solidFill>
                <a:latin typeface="Aptos"/>
              </a:rPr>
              <a:t>Under the guidance of Dr. Swapnika  |  KLH University  |  A.Y. 2026–2027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